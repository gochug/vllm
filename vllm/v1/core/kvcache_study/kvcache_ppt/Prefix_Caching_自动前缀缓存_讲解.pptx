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74520"/>
            <a:ext cx="1005840" cy="822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81328"/>
            <a:ext cx="110944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563EB"/>
                </a:solidFill>
              </a:rPr>
              <a:t>vLLM 核心设计解析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12140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2937"/>
                </a:solidFill>
              </a:rPr>
              <a:t>Automatic Prefix Caching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自动前缀缓存：用一块 KVCacheBlock 的哈希，省掉整段重复的预填充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529584"/>
            <a:ext cx="110944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7706"/>
                </a:solidFill>
              </a:rPr>
              <a:t>核心：按前缀哈希 · 只缓存满块 · 复用计算过的 KV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基于 vllm/docs/design/prefix_caching.md · 教学讲解版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563EB"/>
                </a:solidFill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目录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9304"/>
            <a:ext cx="11094415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175564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为什么需要前缀缓存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1031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问题背景与直觉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0" y="2404872"/>
            <a:ext cx="10271455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0545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371600" y="2523744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哈希方案：块哈希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87121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核心公式 + 组成部分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0" y="3172968"/>
            <a:ext cx="10271455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7355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371600" y="32918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缓存安全与哈希算法选择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63931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cache_salt · sha256 / xxhash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71600" y="3941064"/>
            <a:ext cx="10271455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04164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371600" y="4059936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数据结构总览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40740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Block Pool · Free Queue · Cache · Request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371600" y="4709160"/>
            <a:ext cx="10271455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809744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371600" y="482803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核心操作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517550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分配 / 追加 / 释放 / LRU 驱逐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371600" y="5477256"/>
            <a:ext cx="10271455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5778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1371600" y="559612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端到端示例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00" y="5943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一段 10 块缓存的完整生命周期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624767" y="64008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563EB"/>
                </a:solidFill>
              </a:rPr>
              <a:t>01 · 背景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为什么需要前缀缓存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9304"/>
            <a:ext cx="11094415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一次 LLM 请求，Prompt 部分要做一次“预填充(prefill)”，把每个 token 算成 KV 块。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同一个 Prompt 开头（系统提示词、多轮对话历史、Few-shot 示例）在不同请求里反复出现，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重复的计算费钱又费时。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110944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核心思想：缓存 + 复用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3611880" cy="1554480"/>
          </a:xfrm>
          <a:prstGeom prst="roundRect">
            <a:avLst>
              <a:gd name="adj" fmla="val 2353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3328416"/>
            <a:ext cx="3282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缓存块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3657600"/>
            <a:ext cx="32826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把已处理请求的 kv-cache 块保存下来，带 hash 入库。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60520" y="3611880"/>
            <a:ext cx="457200" cy="731520"/>
          </a:xfrm>
          <a:prstGeom prst="arrow">
            <a:avLst/>
          </a:prstGeom>
          <a:solidFill>
            <a:srgbClr val="1F2937"/>
          </a:solidFill>
          <a:ln/>
        </p:spPr>
      </p:sp>
      <p:sp>
        <p:nvSpPr>
          <p:cNvPr id="12" name="Shape 10"/>
          <p:cNvSpPr/>
          <p:nvPr/>
        </p:nvSpPr>
        <p:spPr>
          <a:xfrm>
            <a:off x="4617720" y="3200400"/>
            <a:ext cx="3611880" cy="1554480"/>
          </a:xfrm>
          <a:prstGeom prst="roundRect">
            <a:avLst>
              <a:gd name="adj" fmla="val 2353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3328416"/>
            <a:ext cx="3282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前缀复用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82312" y="3657600"/>
            <a:ext cx="32826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新请求开头若与历史请求相同，直接复用已有 KV 块，不再重复 prefill。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5029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一进一出，几乎白拿的优化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486400"/>
            <a:ext cx="11094415" cy="658368"/>
          </a:xfrm>
          <a:prstGeom prst="roundRect">
            <a:avLst>
              <a:gd name="adj" fmla="val 5556"/>
            </a:avLst>
          </a:prstGeom>
          <a:solidFill>
            <a:srgbClr val="F3F4F6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5614416"/>
            <a:ext cx="10765231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几乎零成本 · 不改变模型输出（greedy/确定的采样下结果一致） · 已被 OpenAI / Anthropic / SGLang 广泛采用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624767" y="64008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563EB"/>
                </a:solidFill>
              </a:rPr>
              <a:t>02 · 哈希方案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按“前缀 + 块内 token” 计算哈希，标识每一块的唯一身份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9304"/>
            <a:ext cx="11094415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每块 KV 不仅能用它自己那组 token 标识，还要把“它前面所有 token（前缀）”算进去——因为同一段 token 在不同上下文终点，KV 值是不同的。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094415" cy="56692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2286000"/>
            <a:ext cx="10801807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block_hash = hash( ( parent_hash ,  block_tokens ,  extra_hashes ) 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三项组成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3515258" cy="1737360"/>
          </a:xfrm>
          <a:prstGeom prst="roundRect">
            <a:avLst>
              <a:gd name="adj" fmla="val 2105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3557016"/>
            <a:ext cx="31860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1 · 父块哈希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" y="3886200"/>
            <a:ext cx="318607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 parent_hash：前一块的 hash。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携带整个前缀链的身份。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38218" y="3429000"/>
            <a:ext cx="3515258" cy="1737360"/>
          </a:xfrm>
          <a:prstGeom prst="roundRect">
            <a:avLst>
              <a:gd name="adj" fmla="val 2105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2810" y="3557016"/>
            <a:ext cx="31860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2 · 块内 token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02810" y="3886200"/>
            <a:ext cx="318607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 block_tokens：本块的一串 token。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放进原文以降低哈希碰撞概率。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27797" y="3429000"/>
            <a:ext cx="3515258" cy="1737360"/>
          </a:xfrm>
          <a:prstGeom prst="roundRect">
            <a:avLst>
              <a:gd name="adj" fmla="val 210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2389" y="3557016"/>
            <a:ext cx="31860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3 · 额外哈希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92389" y="3886200"/>
            <a:ext cx="318607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 extra_hashes：LoRA ID、多模态输入 hash、cache_salt 等补足唯一性。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54864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例：第 3 块的 token = “laughed in the distance”，但其前缀 = “A gentle breeze stirred the leaves as children”，二者一起参与哈希。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624767" y="64008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563EB"/>
                </a:solidFill>
              </a:rPr>
              <a:t>02 · 细节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只缓存满块 · 哈希算法怎么选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9304"/>
            <a:ext cx="11094415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11094415" cy="960120"/>
          </a:xfrm>
          <a:prstGeom prst="roundRect">
            <a:avLst>
              <a:gd name="adj" fmla="val 381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682496"/>
            <a:ext cx="107652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规则：只缓存满块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2011680"/>
            <a:ext cx="10765231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只有 token 填满的块才会入缓存。未满块不进 cache map，避免把“写一半”的块拿去复用。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为避免碰撞/换取性能，可用 --prefix-caching-hash-algo 选择算法：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11094415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154680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</a:rPr>
              <a:t>sha256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017520" y="3154680"/>
            <a:ext cx="1280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默认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0" y="3154680"/>
            <a:ext cx="716249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Python pickle 序列化；跨 Python/vLLM 版本哈希不可复现。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867912"/>
            <a:ext cx="11094415" cy="603504"/>
          </a:xfrm>
          <a:prstGeom prst="rect">
            <a:avLst/>
          </a:prstGeom>
          <a:solidFill>
            <a:srgbClr val="FA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867912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</a:rPr>
              <a:t>sha256_cbor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017520" y="3867912"/>
            <a:ext cx="1280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推荐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97680" y="3867912"/>
            <a:ext cx="716249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cbor2 序列化；可复现、跨语言兼容、确定性缓存。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581144"/>
            <a:ext cx="11094415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581144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</a:rPr>
              <a:t>xxhash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017520" y="4581144"/>
            <a:ext cx="1280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</a:rPr>
              <a:t>可选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97680" y="4581144"/>
            <a:ext cx="716249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Pickle + xxHash(128bit)；更快但非加密，理论上碰撞风险略增。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5294376"/>
            <a:ext cx="11094415" cy="603504"/>
          </a:xfrm>
          <a:prstGeom prst="rect">
            <a:avLst/>
          </a:prstGeom>
          <a:solidFill>
            <a:srgbClr val="FA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294376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</a:rPr>
              <a:t>xxhash_cbor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017520" y="5294376"/>
            <a:ext cx="1280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</a:rPr>
              <a:t>可选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97680" y="5294376"/>
            <a:ext cx="716249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CBOR + xxHash；可复现且快。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624767" y="64008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563EB"/>
                </a:solidFill>
              </a:rPr>
              <a:t>02 · 示例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多模态输入怎么混入哈希：图片占位符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9304"/>
            <a:ext cx="11094415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图片会先被 tokenize 成一段占位 token &lt;P&gt;，真正做 prefill 时再换成图像 embedding。为了区分“占位符”和“真 token”，把图像 hash 作为 extra hash 注入。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11094415" cy="9601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2423160"/>
            <a:ext cx="10801807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化后（[]IMG] → 41 个 &lt;P&gt;）：[1, 3, 7493, ..., &lt;P&gt;, &lt;P&gt;, ..., 4]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block → hash( (parent, tokens, {image_hash}) 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2377440" cy="1051560"/>
          </a:xfrm>
          <a:prstGeom prst="rect">
            <a:avLst/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3785616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Block 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6656" y="4041648"/>
            <a:ext cx="21214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parent = 上一块 hash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76656" y="4261104"/>
            <a:ext cx="212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tokens=前缀…开头 10 个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76656" y="4480560"/>
            <a:ext cx="21214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</a:rPr>
              <a:t>extra = image hash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27248" y="3703320"/>
            <a:ext cx="2377440" cy="1051560"/>
          </a:xfrm>
          <a:prstGeom prst="rect">
            <a:avLst/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55264" y="3785616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Block 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55264" y="4041648"/>
            <a:ext cx="21214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parent = 上一块 hash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55264" y="4261104"/>
            <a:ext cx="212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tokens=&lt;P&gt; ×N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55264" y="4480560"/>
            <a:ext cx="21214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</a:rPr>
              <a:t>extra = image hash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705856" y="3703320"/>
            <a:ext cx="2377440" cy="1051560"/>
          </a:xfrm>
          <a:prstGeom prst="rect">
            <a:avLst/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33872" y="3785616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Block 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33872" y="4041648"/>
            <a:ext cx="21214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parent = 上一块 hash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33872" y="4261104"/>
            <a:ext cx="212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tokens=&lt;P&gt; ×N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33872" y="4480560"/>
            <a:ext cx="21214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</a:rPr>
              <a:t>extra = image hash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284464" y="3703320"/>
            <a:ext cx="2377440" cy="1051560"/>
          </a:xfrm>
          <a:prstGeom prst="rect">
            <a:avLst/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3785616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Block 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0" y="4041648"/>
            <a:ext cx="21214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parent = 上一块 hash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412480" y="4261104"/>
            <a:ext cx="212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tokens=&lt;P&gt;… + 结尾 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412480" y="4480560"/>
            <a:ext cx="21214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</a:rPr>
              <a:t>extra = image hash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5029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59669"/>
                </a:solidFill>
              </a:rPr>
              <a:t>每个块都带着 image_hash，所以不同图片 → 不同哈希 → 不会被错误复用。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5440680"/>
            <a:ext cx="110944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Cache Isolation · 用 cache_salt 隔离多租户缓存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48640" y="5806440"/>
            <a:ext cx="11094415" cy="685800"/>
          </a:xfrm>
          <a:prstGeom prst="roundRect">
            <a:avLst>
              <a:gd name="adj" fmla="val 533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5934456"/>
            <a:ext cx="10765231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在请求里带 cache_salt，它注入首块哈希 → 只有 salt 相同的请求才能互相复用缓存；隔离开来防“计时侧信道”推断缓存内容。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1624767" y="64008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563EB"/>
                </a:solidFill>
              </a:rPr>
              <a:t>04 · 数据结构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KV Cache Manager 初始化后的四个组件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9304"/>
            <a:ext cx="11094415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5547208" cy="1645920"/>
          </a:xfrm>
          <a:prstGeom prst="roundRect">
            <a:avLst>
              <a:gd name="adj" fmla="val 2222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728216"/>
            <a:ext cx="5218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1 · Block Pool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2057400"/>
            <a:ext cx="521802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所有 KVCacheBlock 预分配成池，避免运行期创建对象开销。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78728" y="1600200"/>
            <a:ext cx="5547208" cy="1645920"/>
          </a:xfrm>
          <a:prstGeom prst="roundRect">
            <a:avLst>
              <a:gd name="adj" fmla="val 2222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3320" y="1728216"/>
            <a:ext cx="5218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2 · Free Block Queue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43320" y="2057400"/>
            <a:ext cx="521802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只存空闲块的“头”和“尾”指针，直接操纵双向链表。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5547208" cy="1645920"/>
          </a:xfrm>
          <a:prstGeom prst="roundRect">
            <a:avLst>
              <a:gd name="adj" fmla="val 2222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648456"/>
            <a:ext cx="5218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3 · Cache Blocks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" y="3977640"/>
            <a:ext cx="521802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hash key → block id 的映射，供前缀命中查找。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78728" y="3520440"/>
            <a:ext cx="5547208" cy="1645920"/>
          </a:xfrm>
          <a:prstGeom prst="roundRect">
            <a:avLst>
              <a:gd name="adj" fmla="val 2222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3320" y="3648456"/>
            <a:ext cx="5218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4 · Request Blocks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3320" y="3977640"/>
            <a:ext cx="521802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request id → 已分配 block id 的映射，跟踪每个请求。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</a:rPr>
              <a:t>四个组件配合：请求来了找 cache 命中 → 不够再向 free queue 借块 → 用 Request Blocks 记账。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624767" y="64008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563EB"/>
                </a:solidFill>
              </a:rPr>
              <a:t>04 · 数据结构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KVCacheBlock：一块就是一个双链表结点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9304"/>
            <a:ext cx="11094415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6878537" cy="18288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691640"/>
            <a:ext cx="6585929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KVCacheBlock: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block_id : int            # 块号（不可变）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block_hash: BlockHash     # 满块时赋值，驱逐时重置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ref_cnt  : int            # 当前有多少请求在用这块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prev_free_block / next_free_block  # 构成空闲队列的双向链表指针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792937" y="1600200"/>
            <a:ext cx="3850118" cy="914400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7529" y="1728216"/>
            <a:ext cx="35209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为什么直接写指针？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57529" y="2057400"/>
            <a:ext cx="352093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省掉额外的 deque 包装；O(1) 把中间某个块挪到队尾。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92937" y="2651760"/>
            <a:ext cx="3850118" cy="777240"/>
          </a:xfrm>
          <a:prstGeom prst="roundRect">
            <a:avLst>
              <a:gd name="adj" fmla="val 4706"/>
            </a:avLst>
          </a:prstGeom>
          <a:solidFill>
            <a:srgbClr val="F3F4F6"/>
          </a:solidFill>
          <a:ln/>
        </p:spPr>
      </p:sp>
      <p:sp>
        <p:nvSpPr>
          <p:cNvPr id="11" name="Text 9"/>
          <p:cNvSpPr/>
          <p:nvPr/>
        </p:nvSpPr>
        <p:spPr>
          <a:xfrm>
            <a:off x="7957529" y="2779776"/>
            <a:ext cx="3520934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提示：ref_cnt 归零的块才真正可回收。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6576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两个关键设计点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5272888" cy="1234440"/>
          </a:xfrm>
          <a:prstGeom prst="roundRect">
            <a:avLst>
              <a:gd name="adj" fmla="val 2963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4197096"/>
            <a:ext cx="494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① 预分配成池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3232" y="4526280"/>
            <a:ext cx="494370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初始化时一次性把块全部建好；随时能遍历、能跟踪。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70168" y="4069080"/>
            <a:ext cx="5272888" cy="1234440"/>
          </a:xfrm>
          <a:prstGeom prst="roundRect">
            <a:avLst>
              <a:gd name="adj" fmla="val 2963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4760" y="4197096"/>
            <a:ext cx="494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② 内嵌双向链表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4760" y="4526280"/>
            <a:ext cx="494370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直接用块自带的前后指针拼 free queue，O(1) 移动、省一层封装。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624767" y="64008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563EB"/>
                </a:solidFill>
              </a:rPr>
              <a:t>05 · 操作 · 分配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新请求：查命中 → 借块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9304"/>
            <a:ext cx="11094415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81328"/>
            <a:ext cx="1920240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81328"/>
            <a:ext cx="128016" cy="7498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81328"/>
            <a:ext cx="1554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</a:rPr>
              <a:t>① 命中查找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743200" y="1536192"/>
            <a:ext cx="8899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kv_cache_manager.get_computed_blocks()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哈希 prompt token → 查 cache blocks，拿到已算好的块序列。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14016"/>
            <a:ext cx="1920240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414016"/>
            <a:ext cx="128016" cy="7498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414016"/>
            <a:ext cx="1554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</a:rPr>
              <a:t>② 块数检查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43200" y="2468880"/>
            <a:ext cx="8899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allocate_slots() 算需要几块新块；不够就直接返回，不硬凑。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346704"/>
            <a:ext cx="1920240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346704"/>
            <a:ext cx="128016" cy="7498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346704"/>
            <a:ext cx="1554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</a:rPr>
              <a:t>③ 触摸命中块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743200" y="3401568"/>
            <a:ext cx="8899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给命中块的 ref_cnt +1；若它没被别的请求用，先从空闲队列摘掉——防止它被驱逐。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279392"/>
            <a:ext cx="1920240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279392"/>
            <a:ext cx="128016" cy="7498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279392"/>
            <a:ext cx="1554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</a:rPr>
              <a:t>④ 弹出新块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743200" y="4334256"/>
            <a:ext cx="8899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从 free queue 队头 pop；若队头是缓存块，就“驱逐”它，让别人不再复用。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212080"/>
            <a:ext cx="1920240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5212080"/>
            <a:ext cx="128016" cy="7498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212080"/>
            <a:ext cx="1554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</a:rPr>
              <a:t>⑤ 立即入缓存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743200" y="5266944"/>
            <a:ext cx="8899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新块一旦填满就马上入 cache map，供本批次其他请求复用。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624767" y="64008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563EB"/>
                </a:solidFill>
              </a:rPr>
              <a:t>05 · 操作 · 分配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运行中请求：只需借块 + 追加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9304"/>
            <a:ext cx="11094415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45920"/>
            <a:ext cx="128016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459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① 块数检查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91840" y="1737360"/>
            <a:ext cx="81683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allocate_slots()：算新增块数，不足直接返回。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18288" cy="20116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651760"/>
            <a:ext cx="128016" cy="8686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517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② 弹出新块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291840" y="2743200"/>
            <a:ext cx="81683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从 free queue 队头 pop；队头若是缓存块则驱逐（不再可复用）。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18288" cy="20116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657600"/>
            <a:ext cx="128016" cy="8686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65760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③ 追加 token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291840" y="3749040"/>
            <a:ext cx="81683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在新旧块里把新 token 填进去。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18288" cy="20116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663440"/>
            <a:ext cx="128016" cy="8686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6634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④ 满块入缓存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291840" y="4754880"/>
            <a:ext cx="81683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一旦某块填满，加入 cache map 让它可被复用。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623560"/>
            <a:ext cx="11094415" cy="777240"/>
          </a:xfrm>
          <a:prstGeom prst="roundRect">
            <a:avLst>
              <a:gd name="adj" fmla="val 470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5751576"/>
            <a:ext cx="107652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需要留意：可能产生“重复块”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" y="6080760"/>
            <a:ext cx="10765231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v1 的 block table 是 append-only，命中相同的 E-H 时不能把 [0,3] 改回 [0,1]，会先多存一个副本，等请求结束清理。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624767" y="64008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563EB"/>
                </a:solidFill>
              </a:rPr>
              <a:t>05 · 操作 · 释放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Free：请求结束，块回到空闲队列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9304"/>
            <a:ext cx="11094415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11094415" cy="868680"/>
          </a:xfrm>
          <a:prstGeom prst="roundRect">
            <a:avLst>
              <a:gd name="adj" fmla="val 4211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682496"/>
            <a:ext cx="107652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条件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2011680"/>
            <a:ext cx="10765231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引用了它的请求计数归零（ref_cnt = 0）才真正释放。若仍有其他请求在用，不回收。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释放顺序很讲究：按“逆序”加入空闲队列队尾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理由：一个请求的最后一块哈希了最多的 token，最不可能被别的请求复用 → 应最先被驱逐（排在 LRU 队头方向）。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11094415" cy="5486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" y="3657600"/>
            <a:ext cx="10801807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freed blocks = [2, 3, 4, 8]  →  以逆序 [8, 4, 3, 2] 追加到 free queue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3434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图示：空闲队列是一个双向链表，头尾指针由 Free Block Queue 持有；新块加到队尾。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48463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97706"/>
                </a:solidFill>
              </a:rPr>
              <a:t>head ←→ 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737360" y="4892040"/>
            <a:ext cx="42062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0" y="4892040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7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12848" y="4892040"/>
            <a:ext cx="42062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12848" y="4892040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8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88336" y="4892040"/>
            <a:ext cx="42062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88336" y="4892040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9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63824" y="4892040"/>
            <a:ext cx="42062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63824" y="4892040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39312" y="4892040"/>
            <a:ext cx="42062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39312" y="4892040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0" y="4892040"/>
            <a:ext cx="42062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0" y="4892040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90288" y="4892040"/>
            <a:ext cx="42062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0288" y="4892040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6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65776" y="4892040"/>
            <a:ext cx="42062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892040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541264" y="4892040"/>
            <a:ext cx="42062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41264" y="4892040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1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16752" y="4892040"/>
            <a:ext cx="420624" cy="365760"/>
          </a:xfrm>
          <a:prstGeom prst="rect">
            <a:avLst/>
          </a:prstGeom>
          <a:solidFill>
            <a:srgbClr val="D1FAE5"/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16752" y="4892040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92240" y="48463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</a:rPr>
              <a:t> ←→ tail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624767" y="64008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563EB"/>
                </a:solidFill>
              </a:rPr>
              <a:t>05 · 操作 · 驱逐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Eviction (LRU)：队头是缓存块时先腾出来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9304"/>
            <a:ext cx="11094415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新块不够用、需要从空闲队列队头借块，而队头恰好是缓存块时 → 先驱逐它（否则别人还能复用，逻辑就乱了）。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706"/>
                </a:solidFill>
              </a:rPr>
              <a:t>1 · 弹出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017520" y="2368296"/>
            <a:ext cx="8442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从 free queue 队头 pop，这就是 LRU（最久未用）的那一块。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706"/>
                </a:solidFill>
              </a:rPr>
              <a:t>2 · 摘缓存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017520" y="3236976"/>
            <a:ext cx="8442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把该 block_id 从 cache blocks（hash→id）映射里删掉。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40690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706"/>
                </a:solidFill>
              </a:rPr>
              <a:t>3 · 清哈希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017520" y="4105656"/>
            <a:ext cx="8442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把块自带的 block_hash 复位，块回归“普通空闲块”。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11094415" cy="960120"/>
          </a:xfrm>
          <a:prstGeom prst="roundRect">
            <a:avLst>
              <a:gd name="adj" fmla="val 381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5230368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</a:rPr>
              <a:t>一句话：LRU 驱逐 = “借它的位，但先把它从缓存里除名，使别人拿不到、也复用它不了”。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566928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每次取队头新块 = 天然命中 LRU 顺序（队头就是最久没用过的块）。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624767" y="64008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563EB"/>
                </a:solidFill>
              </a:rPr>
              <a:t>06 · 示例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端到端：10 块缓存，一整个请求生命周期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9304"/>
            <a:ext cx="11094415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设定：block_size = 4（每块 4 个 token），管理器一共 10 块（0–9）。逐步看“命中 / 借块 / 释放 / 驱逐”怎么联动。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50592"/>
            <a:ext cx="310896" cy="310896"/>
          </a:xfrm>
          <a:prstGeom prst="circl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505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42316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Time 1  新请求 → 借 4 块，前 3 块满并入缓存，第 4 块填了 3/4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310896" cy="310896"/>
          </a:xfrm>
          <a:prstGeom prst="circle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1089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3081528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Time 2  请求 0 → 补满第 3 块并入缓存，再借第 4 块继续解码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67328"/>
            <a:ext cx="310896" cy="310896"/>
          </a:xfrm>
          <a:prstGeom prst="circle">
            <a:avLst/>
          </a:prstGeom>
          <a:solidFill>
            <a:srgbClr val="E5E7E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673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3739896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Time 3  请求 1（前 10 token 与请求 0 相同）→ 只命中前 2 块（8 token）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425696"/>
            <a:ext cx="310896" cy="310896"/>
          </a:xfrm>
          <a:prstGeom prst="circle">
            <a:avLst/>
          </a:prstGeom>
          <a:solidFill>
            <a:srgbClr val="E5E7E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425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4398264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Time 4  请求 0 结束 → 块 2/3/4 逆序入空闲队列（2、3 仍被缓存）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084064"/>
            <a:ext cx="310896" cy="310896"/>
          </a:xfrm>
          <a:prstGeom prst="circle">
            <a:avLst/>
          </a:prstGeom>
          <a:solidFill>
            <a:srgbClr val="E5E7EB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0840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5056632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Time 5  请求 1 结束 → 全部归还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742432"/>
            <a:ext cx="310896" cy="310896"/>
          </a:xfrm>
          <a:prstGeom prst="circle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7424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571500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Time 6  请求 2（前 12 token 相同）→ 命中 0/1/2，并被“触摸”移出队列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624767" y="64008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563EB"/>
                </a:solidFill>
              </a:rPr>
              <a:t>06 · 示例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Time 1 → Time 3：命中侦查与借块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9304"/>
            <a:ext cx="11094415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45920"/>
            <a:ext cx="5547208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55648"/>
            <a:ext cx="518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Time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048256"/>
            <a:ext cx="518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Cache 空 · 新请求进来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2359152"/>
            <a:ext cx="51814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借 4 块：3 块已满并入缓存，第 4 块 3/4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87288" y="1645920"/>
            <a:ext cx="5547208" cy="228600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0168" y="1755648"/>
            <a:ext cx="518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Time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70168" y="2048256"/>
            <a:ext cx="518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请求 0 补满块 3 + 借块 4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70168" y="2359152"/>
            <a:ext cx="51814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块 3 入缓存，块 4 继续解码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110944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Time 3 · 前缀命中（请求 1 前 10 token 相同）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4572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请求 1 有 14 个 token：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937760"/>
            <a:ext cx="1408176" cy="45720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93776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A B C 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057400" y="4937760"/>
            <a:ext cx="1408176" cy="45720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03120" y="493776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E F G 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74720" y="4937760"/>
            <a:ext cx="749808" cy="45720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4937760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I J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56235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→ 只命中前 2 块整（8 token），第 3 块对不齐（仅 2/4）→ 所以前两块直接复用，后续再借。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624767" y="64008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563EB"/>
                </a:solidFill>
              </a:rPr>
              <a:t>06 · 示例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Time 4 → Time 6：释放、驱逐与最终分配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9304"/>
            <a:ext cx="11094415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5547208" cy="1280160"/>
          </a:xfrm>
          <a:prstGeom prst="roundRect">
            <a:avLst>
              <a:gd name="adj" fmla="val 2857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728216"/>
            <a:ext cx="5218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Time 4 · 请求 0 释放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2057400"/>
            <a:ext cx="52180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块 2/3/4 逆序回空闲队列（2、3 仍缓存）；块 0/1 还被请求 1 占用，不进队列。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87288" y="1600200"/>
            <a:ext cx="5547208" cy="1280160"/>
          </a:xfrm>
          <a:prstGeom prst="roundRect">
            <a:avLst>
              <a:gd name="adj" fmla="val 2857"/>
            </a:avLst>
          </a:prstGeom>
          <a:solidFill>
            <a:srgbClr val="F3F4F6"/>
          </a:solidFill>
          <a:ln/>
        </p:spPr>
      </p:sp>
      <p:sp>
        <p:nvSpPr>
          <p:cNvPr id="9" name="Text 7"/>
          <p:cNvSpPr/>
          <p:nvPr/>
        </p:nvSpPr>
        <p:spPr>
          <a:xfrm>
            <a:off x="6351880" y="1728216"/>
            <a:ext cx="5218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Time 5 · 请求 1 释放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51880" y="2057400"/>
            <a:ext cx="52180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块全部归还，空闲队列完整。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3063240"/>
            <a:ext cx="110944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Time 6 · 请求 2 前缀命中前 12 个 token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空闲队列本来是 7-8-9-4-3-2-6-5-1-0。命中块 0/1/2 被“触摸”并移出队列（防止被驱逐），队列变 7-8-9-4-3-6-5。结果分配：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841248" cy="50292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160520"/>
            <a:ext cx="841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0 (缓存)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444752" y="4160520"/>
            <a:ext cx="841248" cy="50292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44752" y="4160520"/>
            <a:ext cx="841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1 (缓存)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340864" y="4160520"/>
            <a:ext cx="841248" cy="50292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40864" y="4160520"/>
            <a:ext cx="841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2 (缓存)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36976" y="4160520"/>
            <a:ext cx="8412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36976" y="4160520"/>
            <a:ext cx="841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7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33088" y="4160520"/>
            <a:ext cx="8412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33088" y="4160520"/>
            <a:ext cx="841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8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0" y="4160520"/>
            <a:ext cx="8412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4160520"/>
            <a:ext cx="841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9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25312" y="4160520"/>
            <a:ext cx="8412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25312" y="4160520"/>
            <a:ext cx="841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4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821424" y="4160520"/>
            <a:ext cx="841248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21424" y="4160520"/>
            <a:ext cx="841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3 (驱逐)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48920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</a:rPr>
              <a:t>命中块直接复用（不用算！） · 排在后面的普通块借来用 · 队头的缓存块 3 被驱逐腾位置。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624767" y="64008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563EB"/>
                </a:solidFill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总结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9304"/>
            <a:ext cx="11094415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727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按哈希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560320" y="1929384"/>
            <a:ext cx="9082735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1554480"/>
            <a:ext cx="8899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block_hash = hash(父块哈希, 块内 token, 额外哈希)，前缀与块内容一起参与身份判定。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43230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只缓存满块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560320" y="2788920"/>
            <a:ext cx="9082735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2414016"/>
            <a:ext cx="8899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写一半的块不入 cache；sha256 / xxhash 等算法可选，兼顾安全与性能。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291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四个组件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560320" y="3648456"/>
            <a:ext cx="9082735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3273552"/>
            <a:ext cx="8899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Block Pool（预分配块池）· Free Queue（空闲双向链表）· Cache（hash→id）· Request（id→块）。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15137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操作闭环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560320" y="4507992"/>
            <a:ext cx="9082735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0" y="4133088"/>
            <a:ext cx="8899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新请求=查命中+借块；运行中=借块+追加；请求完=逆序释放；队头缓存块=LRU 驱逐。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01091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一条主线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560320" y="5367528"/>
            <a:ext cx="9082735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0" y="4992624"/>
            <a:ext cx="8899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命中块“触摸”移出队列保住，其他块按队列借用——复用与驱逐在同一块链表上完成。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624767" y="64008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0"/>
            <a:ext cx="1005840" cy="822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718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Prefix Caching = 前缀哈希 + 满块缓存 + 一条空闲链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37490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复用不改变输出，却省掉一整段重复的 prefill。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9377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</a:rPr>
              <a:t>Q &amp; A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Automatic Prefix Caching 自动前缀缓存</dc:title>
  <dc:subject>PptxGenJS Presentation</dc:subject>
  <dc:creator>vLLM</dc:creator>
  <cp:lastModifiedBy>vLLM</cp:lastModifiedBy>
  <cp:revision>1</cp:revision>
  <dcterms:created xsi:type="dcterms:W3CDTF">2026-08-26T04:33:34Z</dcterms:created>
  <dcterms:modified xsi:type="dcterms:W3CDTF">2026-08-26T04:33:34Z</dcterms:modified>
</cp:coreProperties>
</file>