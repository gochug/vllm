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E7C7B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54480"/>
            <a:ext cx="78638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V1 内核源码精讲 · KVCache 管理机制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59536" y="2011680"/>
            <a:ext cx="1280160" cy="41148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21408"/>
            <a:ext cx="8046720" cy="10058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600" b="1" kern="0" spc="2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 Cache 管理机制详解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8046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D4F5E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从物理显存 → 逻辑块池 → 调度命中的完整链路与源码视角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931920"/>
            <a:ext cx="777240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教学课件 · 面向同学 · 由浅入深</a:t>
            </a: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九模块渐进 · 每节配数字例子与生活化类比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8 月 · 结合 PagedAttention 论文与社区优质讲解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4617720"/>
            <a:ext cx="77724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PagedAttention · 前缀缓存 · 引用计数共享 · Copy-on-Write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zh-CN" altLang="en-US" sz="1050" b="1" kern="0" spc="50" dirty="0">
              <a:solidFill>
                <a:srgbClr val="0A5C5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zh-CN" altLang="en-US" sz="2200" b="1" kern="0" spc="120" dirty="0">
              <a:solidFill>
                <a:srgbClr val="16324F"/>
              </a:solidFill>
              <a:latin typeface="华文中宋" pitchFamily="34" charset="0"/>
              <a:ea typeface="华文中宋" pitchFamily="34" charset="-122"/>
              <a:cs typeface="华文中宋" pitchFamily="34" charset="-120"/>
            </a:endParaRPr>
          </a:p>
        </p:txBody>
      </p:sp>
      <p:sp>
        <p:nvSpPr>
          <p:cNvPr id="63" name="Text 8"/>
          <p:cNvSpPr/>
          <p:nvPr/>
        </p:nvSpPr>
        <p:spPr>
          <a:xfrm>
            <a:off x="2121535" y="1101090"/>
            <a:ext cx="4462145" cy="307022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Cache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概述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PagedAttention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原理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各类</a:t>
            </a: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Attention Cache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概述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管理机制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基础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KVCache 五层架构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总览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端到端流程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生命周期</a:t>
            </a:r>
            <a:endParaRPr 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机制逐层剖析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400050" indent="-400050">
              <a:buFont typeface="+mj-ea"/>
              <a:buAutoNum type="ea1JpnChsDbPeriod"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总结</a:t>
            </a:r>
            <a:endParaRPr lang="zh-CN" altLang="en-US" sz="1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01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第一章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KV Cache 概述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 与 V 分别是什么，KV Cache 到底缓存了什么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KV Cache ≈ 每个词的"索引卡片+内容摘录"，卡片留在桌上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K 是什么：注意力的"标签"——有没有被关注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V 是什么：注意力的"内容"——被关注到什么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KV Cache 的三大特性：逐 token 追加 / 全程保留 / 按需复用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第一章 · 起点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 和 V 到底是什么？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一切从注意力说起：生成每个新 token，都要"回看"前面所有 token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20240"/>
            <a:ext cx="41605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2011680"/>
            <a:ext cx="384048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注意力 = 拿着问题去查笔记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340864"/>
            <a:ext cx="3886200" cy="10058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</a:rPr>
              <a:t>Q（Query）：当前 token 的"提问"</a:t>
            </a:r>
            <a:r>
              <a:rPr lang="en-US" sz="1000" b="1" dirty="0">
                <a:solidFill>
                  <a:srgbClr val="0A5C5B"/>
                </a:solidFill>
              </a:rPr>
              <a:t>K（Key）：每个历史 token 的"索引标签"</a:t>
            </a:r>
            <a:r>
              <a:rPr lang="en-US" sz="1000" b="1" dirty="0">
                <a:solidFill>
                  <a:srgbClr val="0A5C5B"/>
                </a:solidFill>
              </a:rPr>
              <a:t>V（Value）：每个历史 token 的"内容摘要"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</a:rPr>
              <a:t>新 token 的表示 = 所有 V 按 Q·K 相关度加权求和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931920" cy="1481328"/>
          </a:xfrm>
          <a:prstGeom prst="roundRect">
            <a:avLst>
              <a:gd name="adj" fmla="val 370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19472" y="2011680"/>
            <a:ext cx="365760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自回归：一次只生成 1 个 token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5604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5604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9612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9612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3620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7628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7628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16368" y="239572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16368" y="239572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834640"/>
            <a:ext cx="361188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预测"安"时，要同时看"我/爱/北/京"四个 token 的 K 和 V；每生成一步，历史 K/V 都要再被用到一次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3520440"/>
            <a:ext cx="77724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A5E12"/>
                </a:solidFill>
              </a:rPr>
              <a:t>核心矛盾：</a:t>
            </a:r>
            <a:r>
              <a:rPr lang="en-US" sz="1100" dirty="0">
                <a:solidFill>
                  <a:srgbClr val="3D4F5E"/>
                </a:solidFill>
              </a:rPr>
              <a:t>历史 token 的 K / V 在生成过程中从不改变，但每一步都要用 —— 重算它，还是存下来？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261104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2648" y="4261104"/>
            <a:ext cx="79187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生活化类比：K/V = 每个词的"索引卡片 + 内容摘录"，卡片留在桌上就是 KV Cache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第一章 · 定义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 Cache = 历史 token 的"K/V 存档"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 管"有没有被关注"（权重）、V 管"内容是什么"；每个已生成 token 留一份，供后续每一步复用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56816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956816"/>
            <a:ext cx="77724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每步追加：</a:t>
            </a: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生成第 n 个 token 时，把它的 K/V 追加进缓存 → 缓存是一张在变长的表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1430">
            <a:solidFill>
              <a:srgbClr val="9A5E1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670048"/>
            <a:ext cx="77724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全程保留：</a:t>
            </a: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序列没结束前，历史 K/V 留在显存不清空 → 显存压力随长度线性上涨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6F2F2"/>
          </a:solidFill>
          <a:ln w="11430">
            <a:solidFill>
              <a:srgbClr val="0A6E6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3383280"/>
            <a:ext cx="77724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6E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按需复用：</a:t>
            </a: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attention 每次回看直接读这份存档，不必重算 K/V → 省掉逐 token 的投影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一句话：KV Cache 就是"把前面看过的内容做成索引卡片留在桌上"——后面回看不重新读一遍。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第一章 · 不缓存的代价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O(n²) 重算：长度一长就爆炸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若不缓存：生成第 n 个 token，要把前 n 个 token 的 K/V 全部重新投影一遍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02082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2002536"/>
            <a:ext cx="3291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算一笔账：1000 token 序列，完整生成一遍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3895344" cy="13075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不缓存：每步重算全部历史 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1+2+…+1000 ≈ 50 万次 token 投影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缓存后：每个 token 只算 1 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→ 共 1000 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差距 ≈ 500 倍，且序列越长差距按平方扩大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长度 2 倍 → 代价约 4 倍（O(n²) 的含义）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AF0F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85800" y="37856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DDE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785616"/>
            <a:ext cx="16916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不缓存 O(n²)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32304" y="3895344"/>
            <a:ext cx="384048" cy="164592"/>
          </a:xfrm>
          <a:prstGeom prst="rightArrow">
            <a:avLst/>
          </a:prstGeom>
          <a:solidFill>
            <a:srgbClr val="6B7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871216" y="37856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871216" y="3785616"/>
            <a:ext cx="1554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 O(n)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19472" y="2011680"/>
            <a:ext cx="356616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做饭类比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2322576"/>
            <a:ext cx="361188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不缓存 = 每加一味新料，就把整锅汤倒掉、从头重熬一遍；缓存 = 熬好的汤底留着，只加新料。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19472" y="3502152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 KV Cache 的定义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3794760"/>
            <a:ext cx="361188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把每个 token 每一层的 K、V 向量算好后就地保存；后续每步直接读取，不再重算。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52544"/>
            <a:ext cx="8229600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4352544"/>
            <a:ext cx="78638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Cache 的本质：用"存下来的显存"换"不用重算的时间"—— 剩下的问题全是怎么把这笔显存管好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第一章 · 缓存的代价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一笔显存账：KV Cache 能吃多少？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公式：每 token KV 字节 = 2(K+V) × 层数 × KV头数 × head_dim × 每元素字节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02082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02082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2002536"/>
            <a:ext cx="34747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代入 Llama-7B（32 层 · 32 KV头 · head_dim 128 · bf16=2B）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4078224" cy="15361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 token：2 × 32 × 32 × 128 × 2 = 512 KiB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一个请求 4K 上下文：512 KiB × 4096 = 2 GB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一个请求 32K 上下文：= 16 GB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而模型权重本身（bf16）才约 13 GB ——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一条长请求的 KV 竟比整个模型还大！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 10 条长请求：光 KV 就要 160 GB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938528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省显存的第一招：减少 KV 头数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28600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28616" y="2286000"/>
            <a:ext cx="79552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2860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797296" y="2286000"/>
            <a:ext cx="74980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头数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20256" y="2286000"/>
            <a:ext cx="106984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 token KV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22860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63256" y="2286000"/>
            <a:ext cx="1298448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代表模型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65176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65192" y="2651760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MHA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60720" y="265176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33872" y="2651760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(=Q)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0" y="2651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56832" y="2651760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512 KiB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26680" y="265176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99832" y="2651760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Llama-7B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3008376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65192" y="3008376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GQA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60720" y="3008376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833872" y="3008376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(÷4)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0" y="3008376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56832" y="3008376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128 KiB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26680" y="3008376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99832" y="3008376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Llama-3.1-70B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364992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965192" y="3364992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MQA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60720" y="336499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833872" y="3364992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(÷32)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0" y="3364992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56832" y="3364992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 KiB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26680" y="3364992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799832" y="3364992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部分小模型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92040" y="372160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965192" y="3721608"/>
            <a:ext cx="72237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MLA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760720" y="372160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833872" y="3721608"/>
            <a:ext cx="67665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低秩 latent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83680" y="3721608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656832" y="3721608"/>
            <a:ext cx="9966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≈64 KiB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26680" y="372160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799832" y="3721608"/>
            <a:ext cx="122529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DeepSeek-V3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92040" y="4096512"/>
            <a:ext cx="370332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983480" y="4096512"/>
            <a:ext cx="35661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MLA：不存 K/V，存压缩的 latent 向量（模块 04 展开）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2920" y="3931920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12648" y="3931920"/>
            <a:ext cx="398678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类比：KV Cache = 推理的"房租"，随并发×长度上涨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Cache 是推理显存第一大户，且随 并发 × 上下文长度 线性膨胀 —— 所以它值得一整套专门的管理机制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第一章 · 传统方案的痛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连续存储的三大浪费：实测 60-80% 显存白用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 论文（SOSP 2023）实测：现有系统仅 20.4%~38.2% 的 KV 显存真正存了有效 token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568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2011680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 2048 槽位的连续 KV 显存（实际只用 300 token）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304288"/>
            <a:ext cx="1051560" cy="274320"/>
          </a:xfrm>
          <a:prstGeom prst="rect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645920" y="2304288"/>
            <a:ext cx="7452360" cy="274320"/>
          </a:xfrm>
          <a:prstGeom prst="rect">
            <a:avLst/>
          </a:prstGeom>
          <a:solidFill>
            <a:srgbClr val="C050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304288"/>
            <a:ext cx="10515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 14.6%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800" y="2304288"/>
            <a:ext cx="71323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预留未用 + 内部碎片 + 外部碎片 ≈ 85% 浪费（极端示例；论文实测均值 60-80%）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290779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按最大长度预留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200400"/>
            <a:ext cx="24688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未知生成长度 → 一次性预留 max_len 槽位。生成 200 token 也占了 2048 的坑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3712464"/>
            <a:ext cx="100584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Reserved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27832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37560" y="290779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内部碎片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200400"/>
            <a:ext cx="24688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槽位按 2 的幂分配，实际 token 数对不齐 → 每段末尾总有一截用不上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37560" y="3712464"/>
            <a:ext cx="100584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Internal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98464" y="2816352"/>
            <a:ext cx="2679192" cy="1170432"/>
          </a:xfrm>
          <a:prstGeom prst="roundRect">
            <a:avLst>
              <a:gd name="adj" fmla="val 468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08192" y="290779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外部碎片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08192" y="3200400"/>
            <a:ext cx="24688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不同请求长短不一、来了又走 → 显存里到处是"空洞"，新的长序列放不进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08192" y="371246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F9ECE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08192" y="3712464"/>
            <a:ext cx="100584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External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4041648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2648" y="4041648"/>
            <a:ext cx="79187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类比：老式图书馆给每位读者"预留整面墙书架"，哪怕只借 3 本书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25696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4425696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浪费的显存 = 少跑的并发 = 低吞吐 —— 解决方案藏在操作系统里：分页（Paging）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02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第二章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PagedAttention 原理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OS 分页思想搬到 GPU：逻辑连续、物理离散，60-80% → &lt;4%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整面墙书架 → 按需格子 + 共享书区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虚拟内存分页如何映射到显存块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block_table：逻辑连续度的"目录页"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论文三条核心解法一览（PagedAttention / 共享 / CoW）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第二章 · 核心图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PagedAttention 图解：逻辑连续，物理离散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 40 token 的序列（block_size=16）如何散落在不连续的显存格里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847088"/>
            <a:ext cx="23774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逻辑视角：序列切块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176272"/>
            <a:ext cx="21031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0 · T0-T15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(16/16 满)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688336"/>
            <a:ext cx="21031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1 · T16-T31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(16/16 满)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2860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240">
            <a:solidFill>
              <a:srgbClr val="7B9E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200400"/>
            <a:ext cx="21031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2 · T32-T39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(8/16 半满)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1847088"/>
            <a:ext cx="1371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block_table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2066544"/>
            <a:ext cx="13716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（请求私有）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63240" y="2176272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63240" y="2176272"/>
            <a:ext cx="11887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物理 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15968" y="2286000"/>
            <a:ext cx="292608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063240" y="2688336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063240" y="2688336"/>
            <a:ext cx="11887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物理 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15968" y="2798064"/>
            <a:ext cx="292608" cy="18288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063240" y="320040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7B9EC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63240" y="3200400"/>
            <a:ext cx="118872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物理 11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3310128"/>
            <a:ext cx="292608" cy="182880"/>
          </a:xfrm>
          <a:prstGeom prst="rightArrow">
            <a:avLst/>
          </a:prstGeom>
          <a:solidFill>
            <a:srgbClr val="7B9EC4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09160" y="1847088"/>
            <a:ext cx="39319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物理视角：GPU 显存格子（共 16 块示意）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E4E9EC"/>
          </a:solidFill>
          <a:ln w="9525">
            <a:solidFill>
              <a:srgbClr val="6B7B8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09160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null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14416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14416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19672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19672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· T16-31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24928" y="2176272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424928" y="2176272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709160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14416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14416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19672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519672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24928" y="2615184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2AA6A0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424928" y="2615184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· T0-15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709160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14416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614416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19672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519672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424928" y="3054096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7B9EC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424928" y="3054096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· T32-39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709160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614416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614416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19672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519672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424928" y="3493008"/>
            <a:ext cx="8412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424928" y="3493008"/>
            <a:ext cx="8412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09160" y="3950208"/>
            <a:ext cx="39319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号 = null_block 占位 · 其余灰格 = 空闲，随时可被别的请求拿走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57200" y="4261104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40080" y="4297680"/>
            <a:ext cx="7863840" cy="34747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三个直接收益：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半满块也只占 1 个格子（块内碎片 &lt;4%）  ② 物理位置随意 → 永无外部碎片  ③ 别的请求的表也可指向格子 7 → 前缀共享零拷贝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第二章 · 解法总览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三条核心设计 + 一份成绩单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的答案：PagedAttention 分页 + 逻辑物理分离 + 前缀缓存共享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504" y="204825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3504" y="2048256"/>
            <a:ext cx="475488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1984248"/>
            <a:ext cx="402336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 分页</a:t>
            </a: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切成固定大小块（如 16 token/块），按需分配、用完即还，碎片 &lt;4%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03504" y="285292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" y="2852928"/>
            <a:ext cx="475488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2788920"/>
            <a:ext cx="402336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逻辑与物理分离</a:t>
            </a: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调度器只操作 block_id 整数，物理张量一次申请不再动 —— 零显存拷贝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4892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3504" y="36576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3504" y="3657600"/>
            <a:ext cx="475488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3593592"/>
            <a:ext cx="402336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前缀缓存 + 引用计数</a:t>
            </a: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相同前缀共享同一批块（ref_cnt 计数），LRU 决定驱逐顺序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32120" y="1938528"/>
            <a:ext cx="3154680" cy="2651760"/>
          </a:xfrm>
          <a:prstGeom prst="roundRect">
            <a:avLst>
              <a:gd name="adj" fmla="val 2069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15000" y="2048256"/>
            <a:ext cx="28346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A5E12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论文成绩单（SOSP 2023）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2468880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显存浪费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60920" y="2395728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60-80% → &lt;4%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980944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吞吐提升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60920" y="2907792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2-4 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493008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Beam Search 省显存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60920" y="3419856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55.2% / 66.3%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4005072"/>
            <a:ext cx="1737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长共享前缀吞吐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60920" y="3931920"/>
            <a:ext cx="12344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3.58 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4370832"/>
            <a:ext cx="283464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对比对象：FasterTransformer、Orca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" y="4315968"/>
            <a:ext cx="48463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2648" y="4315968"/>
            <a:ext cx="462686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类比：整面墙书架 → 按需格子 + 共享书区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03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第三章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各类 Attention 的 KV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/ MLA / GQA 三种注意力，喂给缓存的形态各不相同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同样记笔记：抄全文 / 写关键词摘要 / 只记高频重点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Full：存完整 K/V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MLA：只存压缩的 latent 向量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GQA：存分组共享 K/V；还有滑窗 / GDN 混合形态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第三章 · 存什么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三种注意力，三种"喂给缓存的数据"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存完整 K/V；MLA 只存压缩的 latent；GQA 存分组后的共享 K/V —— block_size、显存占比随之不同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pic>
        <p:nvPicPr>
          <p:cNvPr id="8" name="Image 0" descr="C:\Users\89517\Desktop\vllm同步\vllm\vllm\v1\core\kvcache_draw\png\kvcache_of_atten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88" y="1810512"/>
            <a:ext cx="4305223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第三章 · 存法的骨架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数据类总览：规格继承链 + 运行期块的字段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KVCacheSpec → AttentionSpec → Full / SlidingWindowSpec：每种"存法"由一个 spec 描述；KVCacheBlock 是跑起来后最小的元数据单元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pic>
        <p:nvPicPr>
          <p:cNvPr id="8" name="Image 0" descr="C:\Users\89517\Desktop\vllm同步\vllm\vllm\v1\core\kvcache_draw\png\kvcache_ty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004060"/>
            <a:ext cx="2867025" cy="29648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04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第四章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管理机制基础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 / block_table / 链式哈希 / ref_cnt —— 所有机制的积木块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物理块=练习册，block_table=目录页，链式哈希=单元指纹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六个"积木词"速览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OS 分页类比与物理块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两把钥匙（block_table / 链式哈希）与数据流全貌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第四章 · 概念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先记住六个"积木词"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它们是理解五层架构的最小语义单元 —— 建议配合右侧例子记忆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938528"/>
            <a:ext cx="166420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术语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94560" y="1938528"/>
            <a:ext cx="429768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31136" y="1938528"/>
            <a:ext cx="422452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含义（结合源码）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93852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28816" y="1938528"/>
            <a:ext cx="212140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一句话类比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322576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KVCacheBlock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2322576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逻辑块：只含 block_id 与元数据，不含任何显存指针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322576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练习册里的一个空页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2670048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2670048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全局编号 [0, N-1]，= 物理张量第 0 维行号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670048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书架上的编号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017520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block_size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3017520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一个块容纳的 token 数（vLLM 默认 16）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017520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每页能写多少字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36499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364992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num_blocks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94560" y="3364992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总块数 = 可用显存 ÷ 单块字节数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364992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练习册总共多少页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3712464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null_block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94560" y="3712464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block_id=0 的占位块，不分配 / 不释放，仅对齐长度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712464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永远空着的 0 号柜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059936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4059936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ref_cnt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94560" y="4059936"/>
            <a:ext cx="4297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引用计数：多少请求在用，归零才可回收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059936"/>
            <a:ext cx="21945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同一页被几个同学借阅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4360" y="4407408"/>
            <a:ext cx="7955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 · Llama-7B（16 GB 可用）：单块单层 256 KB × 32 层 = 8 MB/块 → num_blocks = 16 GB ÷ 8 MB = 2048 块；0 号为 null_block，实际可分配 2047 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第四章 · 类比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PagedAttention 的灵感：操作系统虚拟内存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论文原话："受操作系统虚拟内存分页机制启发" —— 概念几乎可以一一对应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5681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956816"/>
            <a:ext cx="230428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操作系统虚拟内存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956816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871216" y="1956816"/>
            <a:ext cx="257860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PagedAttention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956816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22976" y="1956816"/>
            <a:ext cx="312724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一句话解释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52" y="230428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进程 Process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34640" y="230428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907792" y="230428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Request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230428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559552" y="230428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独立占用内存的主体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5574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352" y="255574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虚拟地址空间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834640" y="255574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907792" y="255574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逻辑块序列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255574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59552" y="255574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看起来连续的"假"地址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80720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0352" y="280720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 Page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34640" y="28072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907792" y="280720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 块 block（16 token）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280720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559552" y="280720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固定大小的最小管理单位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05866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0352" y="305866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物理页框 Frame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4640" y="305866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07792" y="305866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物理块（张量行）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0" y="305866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559552" y="305866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真实的显存格子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31012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0352" y="331012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页表 Page Table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834640" y="331012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907792" y="331012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block_table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0" y="331012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559552" y="331012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 → 物理的映射表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356158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30352" y="356158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缺页中断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834640" y="356158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907792" y="356158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分配新块 allocate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356158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559552" y="356158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不够用了就现申请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381304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30352" y="381304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换出 Swap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834640" y="381304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907792" y="381304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驱逐 Evict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486400" y="381304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559552" y="381304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回收最久不用的页/块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" y="4064508"/>
            <a:ext cx="237744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30352" y="4064508"/>
            <a:ext cx="223113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共享内存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834640" y="4064508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2907792" y="4064508"/>
            <a:ext cx="25054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前缀缓存共享 ref_cnt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0" y="4064508"/>
            <a:ext cx="3200400" cy="237744"/>
          </a:xfrm>
          <a:prstGeom prst="roundRect">
            <a:avLst>
              <a:gd name="adj" fmla="val 230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559552" y="4064508"/>
            <a:ext cx="305409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多个主体用同一份物理内存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4334256"/>
            <a:ext cx="81381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66928" y="4334256"/>
            <a:ext cx="79187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图书馆：老式"整面墙书架" → 新式"目录页 + 按需格子"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第四章 · 概念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两把钥匙：block_table 与链式哈希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一个解决"怎么找到我的 K/V"，一个解决"怎么复用别人的 K/V"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20240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920240"/>
            <a:ext cx="36576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block_table — 请求 → 块 的映射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37490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req_to_blocks[请求] = 一组 block_id 的有序列表，即 block_table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71216"/>
            <a:ext cx="370332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871216"/>
            <a:ext cx="370332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req_abc → [5, 12, 8, 33]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37490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forward 时用这些 id 作 fancy index，从 kv_caches[layer] 抓对应行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0080" y="395935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959352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61872" y="3941064"/>
            <a:ext cx="3017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token 的请求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4206240"/>
            <a:ext cx="3621024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切成 16+16+2：block_table = [5, 12, 8]；0~15 号 token 在物理块 5，16~31 在块 12，剩余 2 个在块 8（半满）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920240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链式哈希 — 前缀缓存的核心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32304"/>
            <a:ext cx="37033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每个块哈希含"前一块的哈希"，相同前缀 → 相同哈希链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2971800"/>
            <a:ext cx="11338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218688"/>
            <a:ext cx="11338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hash(seed, T0-15)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35040" y="2971800"/>
            <a:ext cx="11338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H(b1)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218688"/>
            <a:ext cx="11338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hash(H(b0), T16-31)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223760" y="2926080"/>
            <a:ext cx="1133856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223760" y="2971800"/>
            <a:ext cx="1133856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3218688"/>
            <a:ext cx="113385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hash(H(b1), T32-33)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989320" y="318211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178040" y="3182112"/>
            <a:ext cx="45720" cy="146304"/>
          </a:xfrm>
          <a:prstGeom prst="right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3639312"/>
            <a:ext cx="37033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查找：从左到右逐块比对，遇 miss 即 break（后面必然全 miss）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041648"/>
            <a:ext cx="3931920" cy="585216"/>
          </a:xfrm>
          <a:prstGeom prst="roundRect">
            <a:avLst>
              <a:gd name="adj" fmla="val 937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846320" y="41239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46320" y="412394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68112" y="4105656"/>
            <a:ext cx="310896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查表过程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4608" y="4370832"/>
            <a:ext cx="3712464" cy="20116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H(b0) 命中物理块 → H(b1) 命中 → H(b2) miss → 停；命中 2 块 = 32 token 可直接复用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第四章 · 深入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链式哈希：像区块链一样"牵一发动全身"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BlockHash = hash(父块哈希, 本块 tokens, extra_keys)；链头种子 NONE_HASH 每次启动随机生成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938528"/>
            <a:ext cx="77724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H(b0) = H(seed,   T0..T15,  extra)      </a:t>
            </a:r>
            <a:r>
              <a:rPr lang="en-US" sz="1050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H(b1) = H(H(b0),  T16..T31, extra)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H(b2) = H(H(b1),  T32..T47, extra)   —— extra_keys 可挂 LoRA id / cache_salt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272491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同前缀 → 同哈希链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999232"/>
            <a:ext cx="2468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两个请求只要前面内容一样，哈希就一样 → 可共享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27832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37560" y="272491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改一处 → 全链变化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999232"/>
            <a:ext cx="2468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个 token 不同，其后所有块的哈希全部改变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98464" y="2651760"/>
            <a:ext cx="267919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08192" y="2724912"/>
            <a:ext cx="24688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顺链查，miss 即停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08192" y="2999232"/>
            <a:ext cx="2468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第一个 miss 后面必然全 miss，查找 O(命中长度)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5943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分叉示例：请求 B 与请求 A 只有前 16 token 相同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71246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1732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417320" y="371246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71246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377440" y="371246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3712464"/>
            <a:ext cx="29260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A：全部命中（前缀已在缓存）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407822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41732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17320" y="407822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50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H1'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407822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377440" y="4078224"/>
            <a:ext cx="8686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50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4078224"/>
            <a:ext cx="329184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B：H0 命中共享 16 token，H1' miss 即断 → 只共享前 16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462272"/>
            <a:ext cx="8229600" cy="237744"/>
          </a:xfrm>
          <a:prstGeom prst="roundRect">
            <a:avLst>
              <a:gd name="adj" fmla="val 38462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94360" y="4462272"/>
            <a:ext cx="7955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类比：区块链 —— 每个新区块都记着前一区块的哈希，改写历史任何一笔，后面所有区块立即作废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第四章 · 数据流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从 token 到物理显存：全程只动整数，不搬显存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调度器与 GPU 之间通过 block_id 桥接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1560" y="2093976"/>
            <a:ext cx="292608" cy="29260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 分块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block_size 切成逻辑块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47672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048256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642616" y="2093976"/>
            <a:ext cx="292608" cy="292608"/>
          </a:xfrm>
          <a:prstGeom prst="ellipse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42616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93976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算链式哈希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询问是否有已缓存的前缀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38728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39312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33672" y="2093976"/>
            <a:ext cx="292608" cy="292608"/>
          </a:xfrm>
          <a:prstGeom prst="ellipse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33672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85032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查哈希表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94176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命中复用 ref_cnt++，未命中取新块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9784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230368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824728" y="2093976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824728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 block_table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85232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请求只持一组 block_id 整数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20840" y="2350008"/>
            <a:ext cx="91440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21424" y="201168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15784" y="2093976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415784" y="2093976"/>
            <a:ext cx="29260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67144" y="2441448"/>
            <a:ext cx="138988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gather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76288" y="2697480"/>
            <a:ext cx="13716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fancy index 直接取对应行的 K/V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145536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31520" y="3227832"/>
            <a:ext cx="182880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A5C5B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核心直觉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31520" y="3538728"/>
            <a:ext cx="76809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调度器全程只操作 block_id（整数），不搬移任何显存；物理张量一次性申请好后不再变动，所有分配 / 共享 / 驱逐只改"引用计数 + 哈希表"。</a:t>
            </a:r>
            <a:endParaRPr lang="en-US" sz="1000" dirty="0"/>
          </a:p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block_id = 物理张量第 0 维行号 — 一个请求只有一张 block_table，所有层共用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133088"/>
            <a:ext cx="548640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008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008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61872" y="4197096"/>
            <a:ext cx="46634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动手验证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" y="4462272"/>
            <a:ext cx="526694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上例 req_abc 的 block_table=[5,12,8,33]：第 0 层取每张量第 5/12/8/33 行，第 31 层同样 —— 32 层用同一组行号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4215384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236208" y="4215384"/>
            <a:ext cx="234086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类比：按编号取书，不搬图书馆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05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第五章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KVCache 五层架构总览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 → 协调器 → 管理器 → 块池 → 物理张量，谁持有谁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读书笔记体系：目录页 → 章节编排 → 章节 → 单元页码 → 书架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五层"谁持有谁"一图理清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每层职责 + 数字例子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单 Group 下的整链路内存布局（层→张量→BlockPool）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第五章 · 架构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五层架构全景：谁持有谁，谁对上暴露接口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调度器只需面对最顶层，其余各层用 block_id 贯通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6537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865376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0" y="181051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3645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395728" y="1810512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72200" y="1874520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调度器 · 唯一外部调用方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06040" y="2157984"/>
            <a:ext cx="137160" cy="40234"/>
          </a:xfrm>
          <a:prstGeom prst="downArrow">
            <a:avLst/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249424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249424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 L5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2194560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95728" y="2194560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KVCacheManager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258568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72200" y="2258568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Scheduler 唯一入口 · Drain 记账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2542032"/>
            <a:ext cx="137160" cy="40234"/>
          </a:xfrm>
          <a:prstGeom prst="downArrow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2633472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2633472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协调 L4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2578608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395728" y="2578608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UnitaryCoordinator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2642616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72200" y="2642616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单组透传 · 统一建 BlockPool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606040" y="2926080"/>
            <a:ext cx="137160" cy="40234"/>
          </a:xfrm>
          <a:prstGeom prst="down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301752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3017520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 L3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0" y="2962656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4FB3B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395728" y="2962656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FullAttentionManager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3026664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72200" y="3026664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前缀查找 · CoW · req_to_blocks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06040" y="3310128"/>
            <a:ext cx="137160" cy="40234"/>
          </a:xfrm>
          <a:prstGeom prst="downArrow">
            <a:avLst/>
          </a:prstGeom>
          <a:solidFill>
            <a:srgbClr val="4FB3B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57200" y="3401568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7200" y="3401568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块池 L2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0" y="3346704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55A6AC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395728" y="3346704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BlockPool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3410712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172200" y="3410712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LRU 队列 ｜ 哈希映射表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606040" y="3694176"/>
            <a:ext cx="137160" cy="40234"/>
          </a:xfrm>
          <a:prstGeom prst="downArrow">
            <a:avLst/>
          </a:prstGeom>
          <a:solidFill>
            <a:srgbClr val="55A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57200" y="3785616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785616"/>
            <a:ext cx="1600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 L1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0" y="373075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8FC9C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395728" y="3730752"/>
            <a:ext cx="329184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kv_caches[layer]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72200" y="3794760"/>
            <a:ext cx="2468880" cy="219456"/>
          </a:xfrm>
          <a:prstGeom prst="roundRect">
            <a:avLst>
              <a:gd name="adj" fmla="val 50000"/>
            </a:avLst>
          </a:prstGeom>
          <a:solidFill>
            <a:srgbClr val="8FC9C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172200" y="3794760"/>
            <a:ext cx="24688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torch 张量 · block_id==行号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42062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48640" y="428853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48640" y="4288536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70432" y="4270248"/>
            <a:ext cx="4572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贯穿例子（模块 07 展开）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" y="4535424"/>
            <a:ext cx="5175504" cy="914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 走完五层：Scheduler 问门面要块 → 协调器透传 → 管理器查哈希命中 2 块 → 块池 touch+取新块 → 物理层对应行被读写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5989320" y="4206240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080760" y="4206240"/>
            <a:ext cx="251460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自上而下持有；BlockPool 持全部 KVCacheBlock，与 GPU 张量以 block_id 桥接。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第五章 · 单 Group 全景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五层在"单模型"下长这样：层 → 分组 → 张量 → BlockPool → 请求取号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Llama 单 model 为例的整链路内存布局（32 层 = 1 group = 32 张量 = 1024 块）：一个 block_id 跨 32 张量、各存一份 K/V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pic>
        <p:nvPicPr>
          <p:cNvPr id="8" name="Image 0" descr="C:\Users\89517\Desktop\vllm同步\vllm\vllm\v1\core\kvcache_draw\png\kv_cache_full_att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8631" y="1810512"/>
            <a:ext cx="3206738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06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第六章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端到端生命周期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示例请求 R 全程跟拍：查命中 → 两阶段分配 → 写 KV → 逆序释放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R 的一生：查户口（命中）→ 领柜子（分配）→ 存东西（写 KV）→ 还柜子（释放）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舞台设定与 11 块泳池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四幕流程 + BlockPool 逐步演算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抢占兜底与调度器主循环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舞台设定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示例请求 R 与它的 11 块泳池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 4 页都用这一套设定 —— 数字请先自己跟算一遍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74520"/>
            <a:ext cx="4160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956816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基础参数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block_size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40280" y="2249424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token / 块（vLLM 默认）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596896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物理块总数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40280" y="2596896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块（block_0 ~ block_10）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944368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已在跑的请求 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2944368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占 block_1、block_3（各存 16 token，都已挂哈希）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新来的请求 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3291840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token = A 的前 32 token + 自己的 2 token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3639312"/>
            <a:ext cx="16002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空闲队列（队首→）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40280" y="3639312"/>
            <a:ext cx="228600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8(脏) → 2 → 4 → 5 → 6 → 7 → 9 → 10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泳池全景（11 格）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92040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37176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550408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550408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5544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占用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08776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08776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53912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867144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67144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占用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525512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25512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70648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183880" y="22128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183880" y="2267712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29016" y="2560320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92040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92040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37176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50408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550408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95544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08776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208776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53912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脏·队首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67144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867144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12280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525512" y="29260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EDF4F5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525512" y="2980944"/>
            <a:ext cx="6035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70648" y="3273552"/>
            <a:ext cx="713232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892040" y="3712464"/>
            <a:ext cx="3794760" cy="786384"/>
          </a:xfrm>
          <a:prstGeom prst="roundRect">
            <a:avLst>
              <a:gd name="adj" fmla="val 69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983480" y="379476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983480" y="379476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05272" y="3776472"/>
            <a:ext cx="29718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R 只需要 1 个新块？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01768" y="4041648"/>
            <a:ext cx="3575304" cy="40233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= 命中 32（2 个满块）+ 新增 2 → ceil(2/16) = 1 块。命中部分显存零拷贝，只共享引用。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" y="416966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" y="4169664"/>
            <a:ext cx="78638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初始哈希表：</a:t>
            </a: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H0 = hash(第0块token) → block_1　　H1 = hash(H0, 第1块token) → block_3　　H2 尚不存在（第2块还没人算过）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第 1 幕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get_computed_blocks：逐块查哈希，找到最长已算前缀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纯查询，不改任何状态 —— "查户口"，先看能蹭多少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2024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920240"/>
            <a:ext cx="210312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0 块 token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52928" y="1920240"/>
            <a:ext cx="22860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 = hash(tok 0-15)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0" y="201168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212080" y="2011680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33872" y="2103120"/>
            <a:ext cx="274320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54496" y="1920240"/>
            <a:ext cx="18288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block_1 ✓ 命中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2578608"/>
            <a:ext cx="210312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块 token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52928" y="2578608"/>
            <a:ext cx="22860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 = hash(H0, tok 16-31)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12080" y="2670048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12080" y="2670048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33872" y="2761488"/>
            <a:ext cx="274320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63056" y="2578608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6F1F1"/>
          </a:solidFill>
          <a:ln w="1143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54496" y="2578608"/>
            <a:ext cx="18288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block_3 ✓ 命中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23697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6928" y="3236976"/>
            <a:ext cx="210312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块 token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52928" y="3236976"/>
            <a:ext cx="22860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 = hash(H1, tok 32-33)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12080" y="3328416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9ECEC"/>
          </a:solidFill>
          <a:ln w="1270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212080" y="3328416"/>
            <a:ext cx="566928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50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33872" y="3419856"/>
            <a:ext cx="274320" cy="201168"/>
          </a:xfrm>
          <a:prstGeom prst="rightArrow">
            <a:avLst/>
          </a:prstGeom>
          <a:solidFill>
            <a:srgbClr val="C9D4D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63056" y="3236976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54496" y="3236976"/>
            <a:ext cx="18288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未命中 第2块没人算过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8640" y="406908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48640" y="406908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70432" y="4050792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命中结果：只"查账"不动账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4315968"/>
            <a:ext cx="3803904" cy="274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 2 块 = 32 token 可直接复用；剩余 2 token（含最后一个）必须本请求亲自计算，命中信息暂存请求对象上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91456" y="4041648"/>
            <a:ext cx="3794760" cy="5486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为什么最多命中 num_tokens − 1？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最后一个 token 的 KV 依赖本次前向的输出，缓存里永远不会有"未来"——哪怕只差 1 个 token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第 2 幕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allocate_slots：两阶段分配，把命中与新块写进 block_table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 touch 占座防驱逐，再从空闲队列队首拿新块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6F1F1"/>
          </a:solidFill>
          <a:ln w="11430">
            <a:solidFill>
              <a:srgbClr val="0A5C5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993392"/>
            <a:ext cx="329184" cy="329184"/>
          </a:xfrm>
          <a:prstGeom prst="rect">
            <a:avLst/>
          </a:prstGeom>
          <a:solidFill>
            <a:srgbClr val="0A5C5B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947672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1 · touch 命中块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9232" y="1938528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block_1 / block_3 各 ref_cnt 1→2（A 持有 + R 预约），确保接下来分配引发的驱逐不会误伤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143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560320"/>
            <a:ext cx="329184" cy="329184"/>
          </a:xfrm>
          <a:prstGeom prst="rect">
            <a:avLst/>
          </a:prstGeom>
          <a:solidFill>
            <a:srgbClr val="0E7C7B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514600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 · 取新块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2505456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 1 块 ≤ 可用 8 块 → popleft_n(1) 从队首拿到 block_8（脏块优先复用，反正没有缓存价值）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3127248"/>
            <a:ext cx="329184" cy="329184"/>
          </a:xfrm>
          <a:prstGeom prst="rect">
            <a:avLst/>
          </a:prstGeom>
          <a:solidFill>
            <a:srgbClr val="E8A33D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081528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落账 · 写 block_table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99232" y="3072384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req_to_blocks[R] = [1, 3, 8]，block_8 ref_cnt=1；R 的逻辑块 0/1/2 → 物理块 1/3/8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BF1E1"/>
          </a:solidFill>
          <a:ln w="11430">
            <a:solidFill>
              <a:srgbClr val="9A5E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6928" y="3694176"/>
            <a:ext cx="329184" cy="329184"/>
          </a:xfrm>
          <a:prstGeom prst="rect">
            <a:avLst/>
          </a:prstGeom>
          <a:solidFill>
            <a:srgbClr val="9A5E12"/>
          </a:solidFill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648456"/>
            <a:ext cx="1920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派生 · 记清零任务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99232" y="3639312"/>
            <a:ext cx="5989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take_new_block_ids → [8]：block_8 里还是旧请求的残数据，Worker 前向前后要清零，防止读到脏数据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8640" y="428853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4288536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" y="4270248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容量账怎么算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4535424"/>
            <a:ext cx="8010144" cy="7315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 = 空闲 8 块 − watermark 预留；需要 = ceil(未命中 token / 16) +（CoW 需要时 +1）。不够 → 返回 None → 触发第 7 页的抢占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第 3 幕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前向计算与 cache_blocks：复用旧 KV，只算新 token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只干两件事：往 block_8 写新 KV；attention 按表 gather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7452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956816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侧发生了什么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916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prefill（34 token）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2286000"/>
            <a:ext cx="20116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 1-32：KV 已在 block_1/3，跳过不重算；tok 33-34：算出 K/V 写入 block_8（占 2 槽）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16916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attention gather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31720" y="2889504"/>
            <a:ext cx="20116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block_table [1,3,8] 把三块物理显存"拼"成逻辑连续序列参与注意力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169164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decode 续写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3493008"/>
            <a:ext cx="201168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每生成 1 token 追加进 block_8；2+14=16 满块时触发缓存回写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00600" y="1956816"/>
            <a:ext cx="3749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cache_blocks：满块入哈希表（回写）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286000"/>
            <a:ext cx="3749040" cy="17830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block_8 满 16 token 时：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算 H2 = hash(H1, 第2块 token)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哈希表写入 H2 → block_8</a:t>
            </a:r>
            <a:endParaRPr lang="en-US" sz="950" dirty="0"/>
          </a:p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从此别的请求查到 H2 就能蹭 block_8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幂等保护：同一哈希重复写不报错、不重复占位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33088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4133088"/>
            <a:ext cx="38039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类比：满块才"定稿"入档案室（哈希表），后来者凭目录借阅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413308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5488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76672" y="4197096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时间线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4462272"/>
            <a:ext cx="3803904" cy="164592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14 次生成后 block_8 满 → 回写 H2；此时哈希表已有 H0/H1/H2 三条链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演算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 11 块逐步演算：7 个时间步一张表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全课件最重要的一页 —— 建议暂停，逐行对照上一页流程亲手推一遍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4708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847088"/>
            <a:ext cx="493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24128" y="1847088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60704" y="1847088"/>
            <a:ext cx="21396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发生什么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6976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73552" y="1847088"/>
            <a:ext cx="7680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78224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14800" y="1847088"/>
            <a:ext cx="7680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19472" y="184708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56048" y="1847088"/>
            <a:ext cx="76809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84708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797296" y="1847088"/>
            <a:ext cx="2852928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空闲队列（队首→）与哈希表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15798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352" y="2157984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T0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024128" y="2157984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2157984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初始：A 在跑，R 未到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236976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310128" y="215798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rc=1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挂H0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078224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51376" y="215798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rc=1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挂H1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919472" y="21579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992624" y="215798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空闲·脏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队首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5760720" y="215798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33872" y="2157984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8,2,4,5,6,7,9,10｜H0→1 H1→3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46888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0352" y="2468880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T1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024128" y="246888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97280" y="2468880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查命中（纯查询）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236976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310128" y="246888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078224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151376" y="246888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919472" y="246888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992624" y="246888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5760720" y="246888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33872" y="2468880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不变｜不变（get_computed_blocks 不动状态）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57200" y="277977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30352" y="2779776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T2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024128" y="2779776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97280" y="2779776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touch 预约命中块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236976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310128" y="2779776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1→2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078224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151376" y="2779776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1→2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919472" y="2779776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992624" y="2779776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5760720" y="277977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833872" y="2779776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不变｜不变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457200" y="3090672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30352" y="3090672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T3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1024128" y="3090672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97280" y="3090672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取新块 popleft_n(1)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3236976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310128" y="3090672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4078224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4151376" y="3090672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4919472" y="309067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992624" y="3090672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rc=1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5760720" y="3090672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5833872" y="3090672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2,4,5,6,7,9,10｜不变（新块不挂哈希）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457200" y="3401568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30352" y="3401568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T4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1024128" y="3401568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1097280" y="3401568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前向+decode，块满回写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3236976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3310128" y="3401568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4078224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151376" y="3401568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rc=2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4919472" y="3401568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4992624" y="3401568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rc=1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挂H2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5760720" y="340156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5833872" y="3401568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2,4,5,6,7,9,10｜+H2→8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457200" y="371246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30352" y="3712464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T5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1024128" y="3712464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1097280" y="3712464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生成完，free 逆序 [8,3,1]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3236976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3310128" y="371246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2→1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4078224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4151376" y="371246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2→1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4919472" y="371246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4992624" y="3712464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 1→0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回队尾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5760720" y="371246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5833872" y="3712464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2,4,5,6,7,9,10,8｜哈希全保留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457200" y="402336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30352" y="4023360"/>
            <a:ext cx="42062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T6</a:t>
            </a:r>
            <a:endParaRPr lang="en-US" sz="720" dirty="0"/>
          </a:p>
        </p:txBody>
      </p:sp>
      <p:sp>
        <p:nvSpPr>
          <p:cNvPr id="94" name="Shape 92"/>
          <p:cNvSpPr/>
          <p:nvPr/>
        </p:nvSpPr>
        <p:spPr>
          <a:xfrm>
            <a:off x="1024128" y="402336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1097280" y="4023360"/>
            <a:ext cx="20665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也结束，free [3,1]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3236976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310128" y="402336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rc→0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回队尾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4078224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151376" y="402336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rc→0</a:t>
            </a:r>
            <a:endParaRPr lang="en-US" sz="720" dirty="0"/>
          </a:p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回队尾</a:t>
            </a:r>
            <a:endParaRPr lang="en-US" sz="720" dirty="0"/>
          </a:p>
        </p:txBody>
      </p:sp>
      <p:sp>
        <p:nvSpPr>
          <p:cNvPr id="100" name="Shape 98"/>
          <p:cNvSpPr/>
          <p:nvPr/>
        </p:nvSpPr>
        <p:spPr>
          <a:xfrm>
            <a:off x="4919472" y="4023360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4992624" y="4023360"/>
            <a:ext cx="69494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队尾候补</a:t>
            </a:r>
            <a:endParaRPr lang="en-US" sz="720" dirty="0"/>
          </a:p>
        </p:txBody>
      </p:sp>
      <p:sp>
        <p:nvSpPr>
          <p:cNvPr id="102" name="Shape 100"/>
          <p:cNvSpPr/>
          <p:nvPr/>
        </p:nvSpPr>
        <p:spPr>
          <a:xfrm>
            <a:off x="5760720" y="402336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5833872" y="4023360"/>
            <a:ext cx="2779776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2,4,5,6,7,9,10,8,3,1｜缓存仍可被命中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 T5/T6：释放 ≠ 删数据 —— 物理块回空闲队列当"缓存候补"，哈希条目全保留，下个同前缀请求零成本命中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第 4 幕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free：三步逆序回收，缓存价值最大化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还柜子的顺序有讲究：尾块先还，满块缓刑，脏块立即上岗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0A5C5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956816"/>
            <a:ext cx="14630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逆序遍历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8840" y="1947672"/>
            <a:ext cx="6858000" cy="5303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req_to_blocks[R] 的尾部往前走：尾块最不可能被别人共享前缀，先还它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633472"/>
            <a:ext cx="14630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引用计数递减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2624328"/>
            <a:ext cx="6858000" cy="5303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每块 ref_cnt--：A 还在用的块只是计数回落（2→1），不会真被回收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3310128"/>
            <a:ext cx="1463040" cy="49377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归零回队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48840" y="3300984"/>
            <a:ext cx="6858000" cy="53035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ref_cnt=0 的块离开"在用"状态：有哈希 → append 队尾（缓存候补）；无哈希 → prepend 队首（脏块优先复用）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406908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70432" y="4050792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对照演算表 T5 · 数据能留就留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3803904" cy="274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释放 [8,3,1]：block_8 归零 → 挂着 H2 → append 队尾；block_3/1 只是 rc 2→1（A 还在用）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986784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91456" y="4041648"/>
            <a:ext cx="3794760" cy="56692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延迟释放：pop_blocks_for_free</a:t>
            </a:r>
            <a:endParaRPr lang="en-US" sz="950" dirty="0"/>
          </a:p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抢占场景先把待释放块收集起来，调度一轮结束后批量逆序释放 —— 避免边调度边改池子造成的状态混乱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异常路径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显存不够怎么办：watermark 与抢占（Preemption）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allocate_slots 返回 None 之后，调度器的应急预案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7452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956816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触发：容量检查失败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37490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新请求需要 3 块，空闲只剩 1 块（还要扣掉 watermark 预留）→ allocate_slots 返回 None → 不能硬塞，否则 OOM。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37490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watermark：常驻预留的空闲块，宁可少接活，避免"刚分完就被抢"的抖动。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00600" y="1956816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应对：RECOMPUTE 抢占三步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267712"/>
            <a:ext cx="3749040" cy="102412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挑 running 队尾（最新入队）的请求 X，free 它的全部块（上例释放 5 块 → 空闲变 6）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X 回 waiting 队首，凭 prompt 重新排队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新请求拿到 3 块正常入队；X 下轮重算 —— 好消息：X 的满块多半已入哈希表，重算时能命中自己！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空闲不足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892808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039112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84832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allocate_slots → None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474720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621024" y="3529584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66744" y="3529584"/>
            <a:ext cx="219456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抢占队尾请求 X（free 全部块）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925312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71616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17336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新请求入队 / X 回 waiting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507224" y="3675888"/>
            <a:ext cx="128016" cy="182880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653528" y="35295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143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99248" y="3529584"/>
            <a:ext cx="1325880" cy="47548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下轮 X 重算（可命中自己缓存）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57200" y="4078224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" y="4078224"/>
            <a:ext cx="38039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类比：高峰餐厅让新客去门口等位，会员卡（缓存）还在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07822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54880" y="416052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416052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4142232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设计取舍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4407408"/>
            <a:ext cx="3803904" cy="3657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静态预留显存会大量浪费；动态抢占 + 分页让长尾请求也能跑完（论文成绩单）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收官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调度器主循环：一轮 schedule 里 KV 相关的全部动作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 7 页串成一条时间线 —— 这就是每毫秒都在发生的事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836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195681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94767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88366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schedule()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88366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waiting 取请求，组装本轮 running 批次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236829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35915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229514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get_computed_blocks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229514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逐请求查前缀命中（第 1 幕）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" y="277977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277063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270662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allocate_slots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70662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两阶段分配（第 2 幕）；失败 → 抢占（异常路径页）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1810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" y="319125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318211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6112" y="311810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Worker 执行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311810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先清零 take_new_block_ids 的块、执行 CoW 拷贝，再 GPU 前向（第 3 幕）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48640" y="360273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6112" y="352958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cache_blocks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52958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满块回写哈希表，供后续命中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410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48640" y="4014216"/>
            <a:ext cx="237744" cy="23774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4005072"/>
            <a:ext cx="237744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" y="3941064"/>
            <a:ext cx="22860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+ take_events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3941064"/>
            <a:ext cx="576072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完成的请求释放块；事件交给 KV Connector 消费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" y="4389120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调度只玩整数元数据（快），GPU 只认张量行号（稳）—— 两侧靠 take_* 账本每轮交接一次，互不阻塞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第六章 · 全程时序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一张图看懂整轮生命周期：A 入队 → B 查/分 → C 前向 → E 释放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预计算块哈希 · B1 get_computed_blocks（只读）· B2 allocate_slots（写）· C GPU 前向 + 清零 + CoW · E 逆序 free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pic>
        <p:nvPicPr>
          <p:cNvPr id="8" name="Image 0" descr="C:\Users\89517\Desktop\vllm同步\vllm\vllm\v1\core\kvcache_draw\png\kvcache_sequ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600" y="1810512"/>
            <a:ext cx="1974800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07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第七章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机制逐层剖析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把端到端流程放大，从物理层到门面逐层看清细节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把"领柜子"这步放慢，看清柜门上的锁和钥匙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L1 物理层：张量初始化与形状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L2 块池：块的元数据与五条铁律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L3 管理器 / CoW · L4 协调器 · L5 门面（含混合分组与统一 page）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L1 物理层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初始化五步：把"规格说明书"变成 GPU 张量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EngineCore._initialize_kv_caches()：一次性申请，之后不再变动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8366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883664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产出 Spec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883664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每层 get_kv_cache_spec → FullAttentionSpec（块大小/头数/精度），全模型合并成单组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267712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测可用显存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267712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profile_run：用 max_num_batched_tokens 个 dummy token 跑一遍前向，峰值之外的都是可用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" y="2651760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算 num_blocks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651760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num_blocks = 可用显存 ÷ 单块单层字节 ÷ 层数（多组时取各组最小值对齐）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3035808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申请 + reshape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035808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每层 torch.zeros(int8 字节池) → reshape 成 [num_blocks, heads, block_size, 2·head_dim]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419856"/>
            <a:ext cx="14630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创建 BlockPool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3419856"/>
            <a:ext cx="64008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new KVCacheBlock(0..N-1)，block_id == 张量行号；0 号摘走作 null_block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" y="3922776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3922776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0432" y="3904488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Llama-7B · 16 GB 可用显存 演算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169664"/>
            <a:ext cx="8010144" cy="182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单块单层 = 2(K+V) × 16 token × 32 头 × 128 维 × 2B = 256 KB → num_blocks = 16 GB ÷ 256 KB ÷ 32 层 = 2048 块 ≈ 同时缓存 32,768 token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462272"/>
            <a:ext cx="804672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类比：开学前先数清楚有几间教室（显存），再给学生编学号（block_id）—— 之后教室不再增减，只换学生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L1 物理层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张量长什么样：block_id 就是行号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不同注意力后端的形状略有差异，但"第 0 维 = 块编号"这一约定永远不变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77724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938528"/>
            <a:ext cx="70408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34440" y="193852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71016" y="1938528"/>
            <a:ext cx="276148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shape（block 维在前）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93852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05656" y="1938528"/>
            <a:ext cx="1115568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52" y="2322576"/>
            <a:ext cx="6309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34440" y="232257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07592" y="2322576"/>
            <a:ext cx="26883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(N, kv_heads, bs, 2·head)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69080" y="232257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42232" y="2322576"/>
            <a:ext cx="104241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FlashAttn 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352" y="2670048"/>
            <a:ext cx="6309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2670048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307592" y="2670048"/>
            <a:ext cx="26883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(2, N, bs, kv_heads, head)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69080" y="267004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42232" y="2670048"/>
            <a:ext cx="104241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0352" y="3017520"/>
            <a:ext cx="6309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3017520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307592" y="3017520"/>
            <a:ext cx="268833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(N, 2, bs, kv_heads, head)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69080" y="301752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142232" y="3017520"/>
            <a:ext cx="1042416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HPC(SM90+)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383280"/>
            <a:ext cx="48463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N=num_blocks, bs=block_size；A 形式最后一维前半是 K、后半是 V。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675888"/>
            <a:ext cx="4800600" cy="822960"/>
          </a:xfrm>
          <a:prstGeom prst="roundRect">
            <a:avLst>
              <a:gd name="adj" fmla="val 666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" y="3675888"/>
            <a:ext cx="452628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申请细节：先 zeros 成 int8"字节池"，再按 dtype/stride reshape —— shape 是逻辑的，stride 是物理的（HND/NHD 布局）。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给调度器一个 block_id，等于同时拿到 32 层张量同一行的读写权。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0" y="1938528"/>
            <a:ext cx="32004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桥接图：block_id=5 在每一层都是第 5 行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0" y="22494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 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035040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9944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9944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84848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784848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159752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159752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34656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34656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909560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909560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284464" y="22494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84464" y="22494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0" y="27066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 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35040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035040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9944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09944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84848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784848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159752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159752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534656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534656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909560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909560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284464" y="27066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284464" y="27066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86400" y="31638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…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35040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035040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409944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409944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84848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784848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159752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7159752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534656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534656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909560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7909560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284464" y="31638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284464" y="31638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486400" y="3621024"/>
            <a:ext cx="50292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 31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035040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035040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09944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409944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784848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6784848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159752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7159752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534656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7534656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909560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E8A33D"/>
          </a:solidFill>
          <a:ln w="9525">
            <a:solidFill>
              <a:srgbClr val="9A5E12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7909560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284464" y="3621024"/>
            <a:ext cx="338328" cy="40233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8284464" y="3621024"/>
            <a:ext cx="338328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…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486400" y="4078224"/>
            <a:ext cx="320040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 block = 一组 token 在所有 32 层的 KV（同一行号跨层对齐，位置等同、无需查表）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L2 块池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KVCacheBlock：一个"轻量元数据壳"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只含四类元数据，不持有任何 torch.Tensor / 显存指针 —— 百万块也只有 MB 级内存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938528"/>
            <a:ext cx="9784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08760" y="1938528"/>
            <a:ext cx="187452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45336" y="1938528"/>
            <a:ext cx="180136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938528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19856" y="1938528"/>
            <a:ext cx="523036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52" y="2304288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编号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2304288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581912" y="2304288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block_id: int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83280" y="2304288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56432" y="2304288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全局唯一 [0, N-1]，创建后不变；= blocks 列表下标 = 物理张量行号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0352" y="2606040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生命周期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08760" y="2606040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81912" y="2606040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ref_cnt: int = 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606040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56432" y="2606040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新分配=1；被命中共享时 +1；释放时 -1；归零才能进空闲队列被驱逐/重用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907792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0352" y="2907792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生命周期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508760" y="2907792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581912" y="2907792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is_null: bool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83280" y="2907792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456432" y="2907792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null_block（id=0）专用：不维护 ref_cnt、不进队列、不可释放，仅对齐长度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0352" y="3209544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哈希指纹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508760" y="3209544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581912" y="3209544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_block_hash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83280" y="3209544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456432" y="3209544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内容哈希 key（带 group_id）；仅当块写满并入缓存才设置；None = 未缓存/已驱逐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511296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0352" y="3511296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哈希指纹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508760" y="3511296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581912" y="3511296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_block_hash_num_tokens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83280" y="3511296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456432" y="3511296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该哈希覆盖的前缀 token 数；满块时 = block_size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813048"/>
            <a:ext cx="105156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30352" y="3813048"/>
            <a:ext cx="90525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链表指针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508760" y="3813048"/>
            <a:ext cx="1874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581912" y="3813048"/>
            <a:ext cx="1728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prev / next_free_block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83280" y="3813048"/>
            <a:ext cx="5303520" cy="283464"/>
          </a:xfrm>
          <a:prstGeom prst="roundRect">
            <a:avLst>
              <a:gd name="adj" fmla="val 19355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456432" y="3813048"/>
            <a:ext cx="5157216" cy="2834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空闲双向链表指针，仅由 FreeKVCacheBlockQueue 操作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1513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48640" y="423367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" y="4233672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" y="4215384"/>
            <a:ext cx="43891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为什么这么"轻"？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66928" y="4480560"/>
            <a:ext cx="499262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2048 个块的管理信息 ≈ 2048 × 几十字节 ≈ 0.1 MB；被管理的是 16 GB 显存 —— 账本远小于资产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806440" y="4261104"/>
            <a:ext cx="288036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916168" y="4261104"/>
            <a:ext cx="266090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类比：练习册的"页码 + 借阅登记卡"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L2 块池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BlockPool 两大核心结构 + 五条铁律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空间维度管"谁能被驱逐"，内容维度管"谁能被命中"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1389888"/>
          </a:xfrm>
          <a:prstGeom prst="roundRect">
            <a:avLst>
              <a:gd name="adj" fmla="val 3947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201168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空间维度 · free_block_queue（LRU）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322576"/>
            <a:ext cx="37490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带假头/假尾的双向链表，按驱逐优先级排序：队首最先被驱逐 / 复用，队尾尽量保留。无哈希块放队首（prepend），有哈希块放队尾（append）。分配用 popleft_n 从队首拿。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94360" y="3493008"/>
            <a:ext cx="2926080" cy="128016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3273552"/>
            <a:ext cx="146304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队首（先驱逐）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34640" y="3273552"/>
            <a:ext cx="146304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E8B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队尾（多保留）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FDF7F7"/>
          </a:solidFill>
          <a:ln w="9525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无hash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298448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FDF7F7"/>
          </a:solidFill>
          <a:ln w="9525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98448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无hash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865376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865376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有hash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432304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432304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有hash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999232" y="3675888"/>
            <a:ext cx="512064" cy="310896"/>
          </a:xfrm>
          <a:prstGeom prst="roundRect">
            <a:avLst>
              <a:gd name="adj" fmla="val 17647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999232" y="3675888"/>
            <a:ext cx="512064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有hash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4023360" cy="1389888"/>
          </a:xfrm>
          <a:prstGeom prst="roundRect">
            <a:avLst>
              <a:gd name="adj" fmla="val 3947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00600" y="2011680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内容维度 · 双向哈希映射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2340864"/>
            <a:ext cx="3749040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正向 cached_block_hash_to_block：</a:t>
            </a: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hash → block(s)，前缀命中查找的入口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 cached_block_hashes_by_block：</a:t>
            </a:r>
            <a:r>
              <a:rPr lang="en-US" sz="8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block_id → 别名哈希集合，驱逐时反向清理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401568"/>
            <a:ext cx="393192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00600" y="348386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00600" y="348386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2392" y="3465576"/>
            <a:ext cx="310896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命中示例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18888" y="3730752"/>
            <a:ext cx="3712464" cy="21945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 (H0, group 0) → 得 block_1；释放 block_1 时反查它挂的哈希，同步把映射表条目删干净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3657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五条铁律（源码断言保护）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9377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ref_cnt=0 ⇔ 在空闲队列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210312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13969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一块只挂一个主哈希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74904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78561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正反映射表严格对齐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39496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3153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null_block 永远特判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7040880" y="4315968"/>
            <a:ext cx="1591056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077456" y="4315968"/>
            <a:ext cx="15179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 hash 可挂多个物理块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L3 单类型管理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FullAttentionManager：前缀查找 + 分配 / 释放 + CoW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真正实现链式哈希前缀缓存共享的那一层；req_to_blocks（block_table 真身）就存在这里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938528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find_longest_cache_hit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0" y="1938528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classmethod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9385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73168" y="1938528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在哈希表里查最长已计算前缀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66928" y="2340864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add_local_computed_blocks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0" y="2340864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23408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73168" y="2340864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touch 命中块，ref_cnt++，防驱逐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" y="2743200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get_num_blocks_to_allocate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0" y="2743200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容量预估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73168" y="2743200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算需要新分配多少块（纯计算）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4553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" y="3145536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allocate_new_blocks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0" y="3145536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314553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73168" y="3145536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取新块、处理部分命中 CoW、记入 new_block_ids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478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3547872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cache_blocks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0" y="3547872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3 尾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73168" y="3547872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填满的块写入哈希表，供后续命中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5020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" y="3950208"/>
            <a:ext cx="214884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/ pop_blocks_for_free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0" y="3950208"/>
            <a:ext cx="160020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E/F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95020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73168" y="3950208"/>
            <a:ext cx="38404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逆序释放，ref_cnt--，归零回队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token 请求在本层：查表命中 2 块 → touch（ref_cnt++）→ 还需 1 新块 → 取 block_8 · req_to_blocks[请求]（block_table 真身）就存在这一层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L3 进阶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CoW：共享的"半块"不能直接覆盖写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Copy-on-Write：部分命中时先复制一份，再往副本上写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1517904"/>
          </a:xfrm>
          <a:prstGeom prst="roundRect">
            <a:avLst>
              <a:gd name="adj" fmla="val 3614"/>
            </a:avLst>
          </a:prstGeom>
          <a:solidFill>
            <a:srgbClr val="FDF7F7"/>
          </a:solidFill>
          <a:ln w="11430">
            <a:solidFill>
              <a:srgbClr val="C0504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2011680"/>
            <a:ext cx="3749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问题：部分命中 = 满块 + 半块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304288"/>
            <a:ext cx="3749040" cy="7863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 38 token = 2 个满块 + 6 token 半块。半块正被别的请求共享（ref_cnt≥2），你若直接往里写新 KV，会污染别人的数据。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37490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解法：复制一份私有副本（CoW），在副本上续写。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E6F1F1"/>
          </a:solidFill>
          <a:ln w="1524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566160"/>
            <a:ext cx="13716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源块 (共享)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 = 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93392" y="3767328"/>
            <a:ext cx="502920" cy="201168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74520" y="3383280"/>
            <a:ext cx="868680" cy="1828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 32 token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560320" y="356616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FBF1E1"/>
          </a:solidFill>
          <a:ln w="1524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60320" y="3566160"/>
            <a:ext cx="137160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cow_block (私有)</a:t>
            </a: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 = 1 · 可写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38404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Worker 在 GPU 上执行 src→dst 拷贝（一条 kernel）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63440" y="1920240"/>
            <a:ext cx="4023360" cy="402336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00600" y="1920240"/>
            <a:ext cx="3749040" cy="4023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 四步链路（源码顺序）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3957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73168" y="23957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预约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89320" y="23957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add_local_computed_blocks 把 (块位置, 源块) 记入 _partial_hit_reqs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663440" y="28529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73168" y="28529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容量 +1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28529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get_num_blocks_to_allocate 为 CoW 额外多算 1 块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73168" y="33101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取新块替换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33101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allocate_new_blocks：取 cow_block，原地替换 req_blocks[该位置]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63440" y="3767328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73168" y="3767328"/>
            <a:ext cx="12344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下发拷贝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89320" y="3767328"/>
            <a:ext cx="265176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take_kv_cache_block_copies 排空任务，Worker 执行 GPU 拷贝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709160" y="4261104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18888" y="4261104"/>
            <a:ext cx="371246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类比：公共笔记不能涂改 → 先整页复印，再在自己的复印件上续写 · CoW 只在"部分命中且半块被共享"时触发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L4 协调器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UnitaryKVCacheCoordinator：直通车与两阶段分配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单组场景基本透明透传；两阶段分配是为混合模型修的竞态（issue #33775）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EDF4F5"/>
          </a:solidFill>
          <a:ln w="127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975104"/>
            <a:ext cx="78638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基类负责 ① 创建唯一的 BlockPool（所有组共享编号空间）② 为每个 KV 组创建对应 Manager；Unitary 把请求原样下放给唯一的 FullAttentionManager。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578608"/>
            <a:ext cx="78638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竞态故事：</a:t>
            </a:r>
            <a:r>
              <a:rPr lang="en-US" sz="10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 0 先分配新块 → 触发驱逐 → 恰好驱逐了组 1 还没来得及 touch 的命中块 → 前缀缓存失效！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0A5C5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3200400"/>
            <a:ext cx="248716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1 · 全组 touch 命中块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" y="3511296"/>
            <a:ext cx="242316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先让所有组的命中块 ref_cnt++ 并摘出空闲队列 —— 占座防驱逐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191256" y="3493008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18688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28416" y="3200400"/>
            <a:ext cx="248716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 · 再分配新块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3511296"/>
            <a:ext cx="242316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容量检查通过后，各组才从 free 队列取新块；此时驱逐不会伤到已占座的块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952744" y="3493008"/>
            <a:ext cx="146304" cy="201168"/>
          </a:xfrm>
          <a:prstGeom prst="rightArrow">
            <a:avLst/>
          </a:prstGeom>
          <a:solidFill>
            <a:srgbClr val="2AA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80176" y="3108960"/>
            <a:ext cx="270662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2AA6A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89904" y="3200400"/>
            <a:ext cx="2487168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A6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缓存回写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511296"/>
            <a:ext cx="2423160" cy="51206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计算完成的满块经 cache_blocks 写入链式哈希映射表（幂等）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02920" y="4169664"/>
            <a:ext cx="4206240" cy="365760"/>
          </a:xfrm>
          <a:prstGeom prst="roundRect">
            <a:avLst>
              <a:gd name="adj" fmla="val 25000"/>
            </a:avLst>
          </a:prstGeom>
          <a:solidFill>
            <a:srgbClr val="FBF1E1"/>
          </a:solidFill>
          <a:ln w="9525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2648" y="4169664"/>
            <a:ext cx="3986784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3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类比：先给所有到场客人发座位牌（touch 占座），再安排新客入座 —— 顺序反了就会坐错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169664"/>
            <a:ext cx="388620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892040" y="4251960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92040" y="4251960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4233672"/>
            <a:ext cx="30632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Unitary vs Hybrid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0328" y="4498848"/>
            <a:ext cx="366674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单组（纯 FullAttention）：直通透传，第三返回值恒 0；多组（Gemma3 混合）：不动点迭代跨组对齐命中，"全系统最复杂的类"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L5 顶层门面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KVCacheManager：Scheduler 与 KV 子系统的唯一通道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把下面四层的复杂度全部封装进一个简单接口 —— 典型的门面（Facade）模式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66928" y="199339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" y="1993392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9264" y="1938528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get_computed_blocks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86200" y="1938528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前缀缓存查找（最多命中 num_tokens-1，最后一个必须重算）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6928" y="237744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2377440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9264" y="2322576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allocate_slots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2322576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容量检查 → 两阶段分配 → 缓存；失败返回 None 触发抢占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66928" y="2761488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2761488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9264" y="2706624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take_new_block_ids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86200" y="2706624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收集需清零的新块，交给 Worker（防读到旧数据）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66928" y="3145536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6928" y="3145536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拷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9264" y="3090672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take_kv_cache_block_copies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86200" y="3090672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 CoW 拷贝任务（src → dst）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66928" y="3529584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" y="3529584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9264" y="3474720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free / pop_blocks_for_free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86200" y="3474720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立即释放，或抢占场景延迟逆序释放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85876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66928" y="391363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66928" y="3913632"/>
            <a:ext cx="292608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9264" y="3858768"/>
            <a:ext cx="28346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take_events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86200" y="3858768"/>
            <a:ext cx="521208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BlockStored 等事件，供 KV Connector 消费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27939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" y="4279392"/>
            <a:ext cx="78638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Drain（排空）模式：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门面边干活边"记账"，每轮调度后四个 take_* 一次取走账本并清空 —— CPU/GPU 解耦（类比仓库管理员：干活记账，下班交接）；watermark 预留空闲块防频繁抢占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统一布局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Full + 滑窗混合：按 spec 分组 → 按列切张量 → 全局 BlockPool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可用显存按 group_size 分配：num_blocks = available ÷ (group_size × page_size)；一个请求 = num_groups 个 block_id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pic>
        <p:nvPicPr>
          <p:cNvPr id="8" name="Image 0" descr="C:\Users\89517\Desktop\vllm同步\vllm\vllm\v1\core\kvcache_draw\png\kv_cache_layo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639" y="1810512"/>
            <a:ext cx="3690722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第七章 · 至难案例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GDN + Full Attention：unify page_size 把两类 Layer 塞进同一池子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GDN page 256KB vs Full page 64KB —— 两条路线统一到 256KB：GDN 打 padding、Full 放大 block_size（64→256），最后 4 个 Manager 抢同一 BlockPool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pic>
        <p:nvPicPr>
          <p:cNvPr id="8" name="Image 0" descr="C:\Users\89517\Desktop\vllm同步\vllm\vllm\v1\core\kvcache_draw\png\kv_cache_gd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8877" y="1810512"/>
            <a:ext cx="3006247" cy="2852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1572768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100">
                <a:solidFill>
                  <a:srgbClr val="6B7B8A"/>
                </a:solidFill>
                <a:latin typeface="Consolas"/>
              </a:rPr>
              <a:t>CHAPTER 08 · DEEP DIVE</a:t>
            </a:r>
          </a:p>
        </p:txBody>
      </p:sp>
      <p:sp>
        <p:nvSpPr>
          <p:cNvPr id="4" name="Shape 2"/>
          <p:cNvSpPr/>
          <p:nvPr/>
        </p:nvSpPr>
        <p:spPr>
          <a:xfrm>
            <a:off x="896112" y="1920240"/>
            <a:ext cx="128016" cy="173736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00784"/>
            <a:ext cx="1737360" cy="12801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5600" b="1">
                <a:solidFill>
                  <a:srgbClr val="0E7C7B"/>
                </a:solidFill>
                <a:latin typeface="华文中宋"/>
              </a:rPr>
              <a:t>第八章</a:t>
            </a:r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5852160" cy="8229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2900" b="1">
                <a:solidFill>
                  <a:srgbClr val="16324F"/>
                </a:solidFill>
                <a:latin typeface="华文中宋"/>
              </a:rPr>
              <a:t>总结</a:t>
            </a:r>
          </a:p>
        </p:txBody>
      </p:sp>
      <p:sp>
        <p:nvSpPr>
          <p:cNvPr id="7" name="Text 5"/>
          <p:cNvSpPr/>
          <p:nvPr/>
        </p:nvSpPr>
        <p:spPr>
          <a:xfrm>
            <a:off x="2834640" y="2670048"/>
            <a:ext cx="5943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八条设计哲学、参数权衡、扩展生态、误区澄清与自测清单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218688"/>
            <a:ext cx="594360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回头看：所有设计都在回答——显存怎么省、显存怎么共享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34640" y="3621024"/>
            <a:ext cx="2743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本模块你将学到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9232" y="3931920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八条设计哲学：读源码前先读"为什么"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9232" y="4233672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block_size=16 权衡与前缀缓存收益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9232" y="4535424"/>
            <a:ext cx="56692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扩展生态 / 误区 / 自测 / 源码地图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哲学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八条设计哲学：读源码前先读"为什么"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同样适用于评价新引擎（SGLang / TensorRT-LLM）的 KV 管理设计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83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938528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929384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元数据与数据分离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2157984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CPU 侧只玩整数（block_id），GPU 张量只认行号 —— 调度零拷贝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188366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1938528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4648" y="1929384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分层解耦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84648" y="2157984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五层各司其职，门面封装复杂度；换注意力类型只动中间层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560320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2551176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固定块大小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2779776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分页思想消灭外碎片：浪费从 60-80% 压到 4% 以内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2505456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09160" y="2560320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2551176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不可变哈希链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84648" y="2779776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前缀即身份：满块才入链，链上的块内容永不回写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27248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3182112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172968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引用计数共享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3401568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 让多请求共享同一物理块，命中即省显存省计算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17720" y="3127248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09160" y="3182112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84648" y="3172968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两阶段分配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84648" y="3401568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 touch 占座、再取新块，跨组竞态在源头消除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3803904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4128" y="3794760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Drain 记账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4128" y="4023360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take_* 账本一轮一清，CPU 调度与 GPU 执行彻底解耦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0" y="37490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09160" y="3803904"/>
            <a:ext cx="4572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84648" y="3794760"/>
            <a:ext cx="338328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断言铁律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84648" y="4023360"/>
            <a:ext cx="34290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五条 invariant 用 assert 写死在源码里 —— 文档会过期，断言不会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407408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0080" y="4407408"/>
            <a:ext cx="7863840" cy="29260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一句话总结：把"显存管理"变成"整数记账"，剩下的复杂度都是为了让这本账记得快、记得对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权衡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block_size 为什么是 16：一次参数推演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没有完美的块大小，只有针对推理负载的甜点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" y="1874520"/>
            <a:ext cx="12984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block_size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65376" y="1874520"/>
            <a:ext cx="175564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4K 上下文块表长度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18745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94176" y="1874520"/>
            <a:ext cx="148132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尾块浪费上限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48656" y="1874520"/>
            <a:ext cx="16642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 拷贝代价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18745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86016" y="1874520"/>
            <a:ext cx="1664208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kernel gather 友好度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" y="224028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22402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901952" y="224028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1024 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22402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30752" y="224028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槽（18.8%）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2240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85232" y="224028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2402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22592" y="224028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差：太碎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060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0352" y="260604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26060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901952" y="260604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512 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0" y="260604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730752" y="260604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槽（43.7%）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12080" y="26060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85232" y="260604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260604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22592" y="260604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较差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9718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30352" y="297180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16（默认）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0" y="29718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901952" y="297180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256 项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29718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30752" y="297180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槽（93.7%）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297180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85232" y="297180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49440" y="297180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022592" y="297180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好：论文实验甜点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3375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30352" y="333756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0" y="33375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901952" y="333756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 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0" y="333756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730752" y="333756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 槽（96.9%）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2080" y="3337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285232" y="333756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3337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7022592" y="333756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更好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3703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30352" y="3703320"/>
            <a:ext cx="12252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0" y="37033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901952" y="3703320"/>
            <a:ext cx="168249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 项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0" y="37033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730752" y="3703320"/>
            <a:ext cx="140817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127 槽（99.2%）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12080" y="37033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285232" y="370332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很大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949440" y="370332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022592" y="3703320"/>
            <a:ext cx="1591056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最好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4864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4864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70432" y="4197096"/>
            <a:ext cx="32004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尾块浪费怎么看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66928" y="4462272"/>
            <a:ext cx="3803904" cy="146304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浪费上限只作用于"最后一个未满块"：块越大，单请求最多浪费 bs−1 个槽。实际平均浪费 ≈ bs/2 槽 / 请求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4663440" y="4133088"/>
            <a:ext cx="4023360" cy="530352"/>
          </a:xfrm>
          <a:prstGeom prst="roundRect">
            <a:avLst>
              <a:gd name="adj" fmla="val 10345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91456" y="4169664"/>
            <a:ext cx="3794760" cy="475488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</a:t>
            </a: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在"块表规模 / CoW 开销 / kernel 效率"三角里最平衡；vLLM 允许按模型调整（--block-size），长文场景可实验 32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收益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前缀缓存的账：公式、数字与四大场景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为什么各大推理引擎都在卷 prefix caching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874520"/>
            <a:ext cx="7772400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收益公式　</a:t>
            </a:r>
            <a:r>
              <a:rPr lang="en-US" sz="10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命中 n 块 → 省 n × block_size 个 token 的 prefill 计算；显存上 n 块由所有命中请求共享，只存一份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275234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75234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2734056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数字例子：客服机器人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999232"/>
            <a:ext cx="8010144" cy="2743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2000-token system prompt × 100 并发：无缓存要算 200K token prefill；全命中时每个请求只算自己的 ~50 token —— prefill 计算量省约 96%，TTFT 从秒级降到百毫秒级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" y="3447288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System prompt 共享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657600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同产品所有会话共用同一套系统提示 —— 命中率最高、最稳定的场景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17720" y="3419856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27448" y="3447288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Few-shot 批量任务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7448" y="3657600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同一组示例 + 不同问题：示例部分全命中，只有问题部分现算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" y="3959352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多轮循环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4169664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每轮把历史完整重发：历史部分全是前缀，轮数越深省得越多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17720" y="3931920"/>
            <a:ext cx="4069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27448" y="3959352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同模板批量处理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27448" y="4169664"/>
            <a:ext cx="38862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法律合同比对、代码仓库问答：模板与公共上下文全部复用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444398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443984"/>
            <a:ext cx="78638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开启方式：新版 vLLM 默认启用前缀缓存；监控 get_prefix_cache_hit_rate 判断效果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生态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扩展类型速览：新注意力 = 新 Manager 子类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架构留好了口子 —— 加能力不改骨架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83664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883664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FullAttentionManager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3291840" y="1883664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 · 标准全注意力（Llama / Qwen 等）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543800" y="1883664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本课件主角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322576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SlidingWindowManager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91840" y="2322576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滑窗注意力（Mistral 等）：窗口外的块可直接释放，省显存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43800" y="2322576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窗口左移 → 老块出窗即弃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2761488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ChunkedLocalAttentionManager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291840" y="2761488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长文局部注意力：按 chunk 组织块的生命周期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43800" y="2761488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长上下文专用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6928" y="3200400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E8A33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HybridKVCacheCoordinator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291840" y="3200400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混合注意力（Gemma3）：滑窗组 + 全注意力组协同，不动点迭代对齐命中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543800" y="3200400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"全系统最复杂的类"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6928" y="3639312"/>
            <a:ext cx="2651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9A5E1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KVConnector 生态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291840" y="3639312"/>
            <a:ext cx="42062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LMCache / NIXL 等：KV 跨节点传输，支撑 PD 分离部署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3800" y="3639312"/>
            <a:ext cx="146304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块事件 BlockStored 驱动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F1E1"/>
          </a:solidFill>
          <a:ln w="1143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48640" y="4215384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8640" y="4215384"/>
            <a:ext cx="530352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70432" y="4197096"/>
            <a:ext cx="740664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9A5E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怎么读懂一个新 Manager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4462272"/>
            <a:ext cx="8010144" cy="182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7A5A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盯三件事：① 哪些块算"命中"（find_longest_cache_hit 实现）② 什么时候释放（滑窗出界即放）③ 与全注意力共用哪些基类设施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澄清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四个常见误区：别让直觉骗了你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每条都对应源码里一个容易被误读的设计点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653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9110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"命中缓存会把 KV 拷一份"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只是共享同一物理块 + ref_cnt++。显存里自始至终只有一份数据，零拷贝。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真正拷贝的只有 CoW：部分命中的共享半块，才复制一份私有副本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617720" y="18653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27448" y="19110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"驱逐 = 立即清空数据"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27448" y="21762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驱逐只是把块从哈希表摘牌、交还空闲队列。旧内容还在，等新块复用时被清零/覆盖。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所以刚被驱逐的前缀，短时间内重新请求仍可能撞上未覆盖的数据？不 —— 摘牌后查不到了，命中必须靠哈希表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2826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"所有请求的前缀都能共享"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5478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逐块哈希必须完全一致：同 system prompt + 同 tokenizer + 同块边界才命中。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差一个 token、换一个模型量化版本，哈希链就全断了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617720" y="3236976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27448" y="3282696"/>
            <a:ext cx="3840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050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"块越小越好（碎片少）"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7448" y="3547872"/>
            <a:ext cx="3858768" cy="9144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块小则块表更长、kernel gather 更碎、CoW 更频繁 —— 见上一页的权衡表。</a:t>
            </a:r>
            <a:endParaRPr lang="en-US" sz="830" dirty="0"/>
          </a:p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是推演出来的甜点，不是拍脑袋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自测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八问八答：检验你是真懂了还是背下来了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先遮住灰色答案行，口头回答，再对照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56232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892808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  为什么最多命中 num_tokens − 1 个 token？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68096" y="2148840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最后一个 token 的 KV 依赖本次前向输出，缓存里没有"未来"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617720" y="1856232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27448" y="1892808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  block_table（req_to_blocks）存在哪一层？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928616" y="2148840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FullAttentionManager —— 协调器和门面只是转发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2514600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  ref_cnt = 0 的块一定在空闲队列吗？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8096" y="2770632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是，这是铁律之一：ref_cnt=0 ⇔ 在 free_block_queue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617720" y="2478024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27448" y="2514600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  驱逐从哪里开始？顺序依据是什么？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928616" y="2770632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空闲队列队首；无哈希块 prepend 队首优先复用，有哈希块 append 队尾多保留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7200" y="309981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6928" y="3136392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Q5  CoW 什么时候触发？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8096" y="3392424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部分命中且尾块被共享（ref_cnt≥2）时，先复制再写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17720" y="3099816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27448" y="3136392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Q6  两阶段分配防的是什么？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928616" y="3392424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跨 KV 组竞态：组 0 分配引发驱逐，恰好赶走组 1 还没 touch 的命中块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57200" y="372160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66928" y="3758184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Q7  满块什么时候进哈希表？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768096" y="4014216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前向计算完成后由 cache_blocks 回写，且写入是幂等的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17720" y="372160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727448" y="3758184"/>
            <a:ext cx="38862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Q8  null_block 是干什么的？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928616" y="4014216"/>
            <a:ext cx="36576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 block_0 永久保留：给无 KV 的层/占位场景用，不参与分配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57200" y="440740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能不看答案讲清 6 题以上，就可以直接去读 vllm/v1/core 源码了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1050" b="1">
                <a:solidFill>
                  <a:srgbClr val="0A5C5B"/>
                </a:solidFill>
                <a:latin typeface="微软雅黑"/>
              </a:rPr>
              <a:t>第八章 · 地图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源码地图与参考资料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带着这份地图进仓库，五层架构一一对号入座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847088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源码地图（vllm/v1/core）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6928" y="2139696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kv_cache_manager.py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560320" y="2139696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L5 门面：allocate_slots / free / take_*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478024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kv_cache_coordinator.py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560320" y="2478024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协调器：两阶段分配的编排者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" y="2816352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full_attention.py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560320" y="2816352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管理器：命中查找 / 分配 / CoW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66928" y="3154680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block_pool.py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560320" y="3154680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块池：空闲队列 + 双向哈希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" y="3493008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kv_cache_utils.py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560320" y="3493008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块哈希 / 链式前缀 / 工具函数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EDF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6928" y="3831336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gpu_model_runner.py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2560320" y="3831336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物理层：张量分配与清零执行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57200" y="4169664"/>
            <a:ext cx="41605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66928" y="4169664"/>
            <a:ext cx="196596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A5C5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kvcache_docs/（8 篇）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560320" y="4169664"/>
            <a:ext cx="20116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本课件配套的中文源码精读笔记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892040" y="1847088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参考资料（推荐阅读顺序）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2139696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BF1E1"/>
          </a:solidFill>
          <a:ln w="1016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83480" y="2194560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A5E1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185416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 论文（SOSP 2023, Kwon et al.）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5394960" y="2414016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arxiv.org/abs/2309.06180 —— 浪费 60-80%→&lt;4%、吞吐 2-4× 的出处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92040" y="2697480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83480" y="2752344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743200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官方文档 · V1 引擎与 Prefix Caching 指南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394960" y="2971800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docs.vllm.ai —— 官方视角的块管理与缓存开关说明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92040" y="3255264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983480" y="3310128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300984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vLLM GitHub 仓库 vllm/v1/core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5394960" y="3529584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github.com/vllm-project/vllm —— 对照本课件逐文件阅读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92040" y="3813048"/>
            <a:ext cx="37947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983480" y="3867912"/>
            <a:ext cx="365760" cy="4206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A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3858768"/>
            <a:ext cx="320040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社区优质中文图解（PagedAttention 系列）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5394960" y="4087368"/>
            <a:ext cx="3246120" cy="23774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知乎 / B 站多位作者的 OS 分页类比与图解 —— 本课件的类比思路亦借鉴于此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7200" y="4480560"/>
            <a:ext cx="8229600" cy="2011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阅读顺序建议：论文第 3-4 节 → 本课件模块 08 → 源码 block_pool.py → full_attention.py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9525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10896"/>
            <a:ext cx="2377440" cy="3108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64008" cy="457200"/>
          </a:xfrm>
          <a:prstGeom prst="rect">
            <a:avLst/>
          </a:prstGeom>
          <a:solidFill>
            <a:srgbClr val="E8A33D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21792" y="786384"/>
            <a:ext cx="6949440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一页带走全部：九个模块 × 十个关键词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1353312"/>
            <a:ext cx="7955280" cy="34747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忘了细节就回到这一页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10973"/>
          </a:xfrm>
          <a:prstGeom prst="rect">
            <a:avLst/>
          </a:prstGeom>
          <a:solidFill>
            <a:srgbClr val="D6E0E6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828800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1828800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K/V 定义；逐 token 追加 / 全程保留 / 按需复用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112264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112264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17520" y="2112264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O(n²)→O(n) 取舍；KV 显存账；三大浪费 60-80%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6928" y="2395728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395728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瓶颈→分页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17520" y="2395728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PagedAttention：逻辑连续物理离散；block_table；60-80% → &lt;4%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57200" y="2679192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6928" y="2679192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679192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各类 Attention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17520" y="2679192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Full 存 K/V · MLA 存 latent · GQA 存分组共享 K/V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66928" y="2962656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962656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基础概念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017520" y="2962656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 / block_table / 链式哈希 / ref_cnt；OS 分页类比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6928" y="3246120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246120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五层架构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17520" y="3246120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门面 → 协调器 → 管理器 → 块池 → 物理张量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3529584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66928" y="3529584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529584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端到端流程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017520" y="3529584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R：查命中 → 两阶段分配 → 写 KV → 逆序释放；抢占兜底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457200" y="3813048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6F1F1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6928" y="3813048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3813048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拆解各机制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017520" y="3813048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物理层 / 块池铁律 / CoW / 协调器 / 门面；混合分组与统一 page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57200" y="4096512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6E0E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66928" y="4096512"/>
            <a:ext cx="73152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71600" y="4096512"/>
            <a:ext cx="155448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632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设计要点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17520" y="4096512"/>
            <a:ext cx="5943600" cy="2560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八条哲学；block_size=16；前缀缓存收益；扩展与自测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57200" y="440740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57200" y="4407408"/>
            <a:ext cx="11430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PagedAttention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73352" y="4407408"/>
            <a:ext cx="93726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673352" y="4407408"/>
            <a:ext cx="9372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block_table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683764" y="440740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683764" y="4407408"/>
            <a:ext cx="4572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链式哈希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14116" y="4407408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214116" y="4407408"/>
            <a:ext cx="6629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ref_cnt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950208" y="4407408"/>
            <a:ext cx="38862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950208" y="4407408"/>
            <a:ext cx="3886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CoW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11980" y="4407408"/>
            <a:ext cx="52578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411980" y="4407408"/>
            <a:ext cx="5257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两阶段分配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10912" y="440740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010912" y="4407408"/>
            <a:ext cx="5943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LRU 驱逐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678424" y="4407408"/>
            <a:ext cx="80010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678424" y="4407408"/>
            <a:ext cx="8001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watermark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551676" y="440740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551676" y="4407408"/>
            <a:ext cx="1005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抢占 RECOMPUTE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630668" y="440740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6F1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630668" y="4407408"/>
            <a:ext cx="73152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5C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Drain 记账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75320" y="4722876"/>
            <a:ext cx="411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sz="900">
                <a:solidFill>
                  <a:srgbClr val="6B7B8A"/>
                </a:solidFill>
                <a:latin typeface="Consolas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E7C7B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1600200"/>
            <a:ext cx="45720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6B7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COURSE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78638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16324F"/>
                </a:solidFill>
                <a:latin typeface="华文中宋" pitchFamily="34" charset="0"/>
                <a:ea typeface="华文中宋" pitchFamily="34" charset="-122"/>
                <a:cs typeface="华文中宋" pitchFamily="34" charset="-120"/>
              </a:rPr>
              <a:t>谢谢观看 · Q&amp;A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68096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D4F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下一步：打开 vllm/v1/core/block_pool.py，找到 free_block_queue —— 你已经认识它的每一行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7772400" cy="10058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学习路径建议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重做模块 07 的 11 块演算（不看答案）　② 精读 block_pool.py 的 5 条断言　③ 给同学讲一遍 CoW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rgbClr val="6B7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配套文档：kvcache_docs（8 篇中文源码精读）　·　论文：arxiv.org/abs/2309.06180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20332</Words>
  <Application>WPS 演示</Application>
  <PresentationFormat>On-screen Show (16:9)</PresentationFormat>
  <Paragraphs>2109</Paragraphs>
  <Slides>55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Arial</vt:lpstr>
      <vt:lpstr>宋体</vt:lpstr>
      <vt:lpstr>Wingdings</vt:lpstr>
      <vt:lpstr>微软雅黑</vt:lpstr>
      <vt:lpstr>微软雅黑</vt:lpstr>
      <vt:lpstr>华文中宋</vt:lpstr>
      <vt:lpstr>华文中宋</vt:lpstr>
      <vt:lpstr>华文中宋</vt:lpstr>
      <vt:lpstr>Consolas</vt:lpstr>
      <vt:lpstr>Consolas</vt:lpstr>
      <vt:lpstr>Consolas</vt:lpstr>
      <vt:lpstr>Calibri</vt:lpstr>
      <vt:lpstr>KSOFA69E9B9A</vt:lpstr>
      <vt:lpstr>Segoe Print</vt:lpstr>
      <vt:lpstr>KSOFA69E273B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vLLM 教学课件</dc:creator>
  <dc:subject>PptxGenJS Presentation</dc:subject>
  <cp:lastModifiedBy>小阿牛</cp:lastModifiedBy>
  <cp:revision>3</cp:revision>
  <dcterms:created xsi:type="dcterms:W3CDTF">2026-08-25T15:15:00Z</dcterms:created>
  <dcterms:modified xsi:type="dcterms:W3CDTF">2026-08-27T04:37:39Z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86B6BA43A9264993A6278AF56A9D3C6B_12</vt:lpwstr>
  </property>
</Properties>
</file>