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来源：00_共同语言.md 0.1~0.3；vllm/config/cache.py:47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来源：00_共同语言.md 0.2~0.4；kv_cache_interface.py:100/109；cache.py:47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来源：A_类型体系.md A1~A3；kv_cache_interface.py:227/381/690/817；MLA 例 bs=64 → 72KB；GDN 274KB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来源：C_运行阶段.md C1/C4；kv_cache_manager.py:117；block_pool.py:143；kv_cache_coordinator.py:60/435/521；st.py:36；GMR:563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来源：B_启动阶段.md B1~B2；engine/core.py:141/:248-329；kv_cache_utils.py:882/:993/:1013；KCU:972-990 组内代价口径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来源：B_启动阶段.md B3/B4/B6；page=16×4×(128+128)×2B=32KiB；num_blocks=2GiB÷32KiB÷16=4096；(4096,4,16,256)；GMR:7523/7606/7782；int8 底座零拷贝 attn_utils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来源：C_运行阶段.md C3/C4；scheduler.py:739/:946；kv_cache_manager.py:229/:344；output.py:41 三联单字段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来源：C_运行阶段.md C5/C6；block_table.py:407（slot 换算）；kv_cache_manager.py:707；flash_attn.py:144；scheduler.py:848-887 chunked 切片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来源：D_端到端.md D1~D5；scheduler.py:427/:739/:946/:2055;KCM:229/:344/:567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来源：D_端到端.md D4.4/D6；block_pool.py:719/:744；kv_cache_manager.py:567；C3.4 幂等；E1/E4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来源：知识体系.md 总纲；各章完成标准；E_场景差异.md E1/E2/E4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737360"/>
            <a:ext cx="128016" cy="1234440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82F67"/>
                </a:solidFill>
                <a:latin typeface="PingFang SC"/>
                <a:ea typeface="PingFang SC"/>
              </a:rPr>
              <a:t>vLLM V1 KV Cache 管理机制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26F91"/>
                </a:solidFill>
                <a:latin typeface="PingFang SC"/>
                <a:ea typeface="PingFang SC"/>
              </a:rPr>
              <a:t>从块模型到端到端：类型 · 架构 · 两条时间线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20040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C91AA"/>
                </a:solidFill>
                <a:latin typeface="PingFang SC"/>
                <a:ea typeface="PingFang SC"/>
              </a:rPr>
              <a:t>request R 的 block_table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511296"/>
            <a:ext cx="420624" cy="31089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511296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55D4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11296"/>
            <a:ext cx="420624" cy="31089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11296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55D4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7088" y="3511296"/>
            <a:ext cx="420624" cy="31089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7088" y="3511296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55D4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3511296"/>
            <a:ext cx="420624" cy="31089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3511296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55D4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8064" y="3511296"/>
            <a:ext cx="420624" cy="31089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3511296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55D4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295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C91AA"/>
                </a:solidFill>
                <a:latin typeface="PingFang SC"/>
                <a:ea typeface="PingFang SC"/>
              </a:rPr>
              <a:t>—— 映射到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474720"/>
            <a:ext cx="329184" cy="384048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474720"/>
            <a:ext cx="329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3474720"/>
            <a:ext cx="329184" cy="384048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474720"/>
            <a:ext cx="329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474720"/>
            <a:ext cx="329184" cy="384048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474720"/>
            <a:ext cx="329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474720"/>
            <a:ext cx="329184" cy="384048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74720"/>
            <a:ext cx="329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474720"/>
            <a:ext cx="329184" cy="384048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474720"/>
            <a:ext cx="329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4984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1560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81360" y="3474720"/>
            <a:ext cx="329184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39136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物理显存（行号 = block_id，点亮 0..4 共 5 页 × 32KiB）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4526280"/>
            <a:ext cx="1463040" cy="896112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" y="4526280"/>
            <a:ext cx="1463040" cy="64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68172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55D4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029200"/>
            <a:ext cx="1463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KV Cache 概述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41448" y="4526280"/>
            <a:ext cx="1463040" cy="896112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441448" y="4526280"/>
            <a:ext cx="1463040" cy="64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41448" y="468172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55D4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1448" y="5029200"/>
            <a:ext cx="1463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PagedAttention 概述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14215" y="4526280"/>
            <a:ext cx="1463040" cy="896112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014215" y="4526280"/>
            <a:ext cx="1463040" cy="64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14215" y="468172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55D4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14215" y="5029200"/>
            <a:ext cx="1463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类型串讲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86984" y="4526280"/>
            <a:ext cx="1463040" cy="896112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86984" y="4526280"/>
            <a:ext cx="1463040" cy="64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6984" y="468172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55D4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86984" y="5029200"/>
            <a:ext cx="1463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管理架构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59752" y="4526280"/>
            <a:ext cx="1463040" cy="896112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159752" y="4526280"/>
            <a:ext cx="1463040" cy="64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59752" y="468172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55D4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9752" y="5029200"/>
            <a:ext cx="1463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初始化阶段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32519" y="4526280"/>
            <a:ext cx="1463040" cy="896112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732519" y="4526280"/>
            <a:ext cx="1463040" cy="64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32519" y="468172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55D4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19" y="5029200"/>
            <a:ext cx="1463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运行阶段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05288" y="4526280"/>
            <a:ext cx="1463040" cy="896112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305288" y="4526280"/>
            <a:ext cx="1463040" cy="64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05288" y="468172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55D4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05288" y="5029200"/>
            <a:ext cx="1463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请求端到端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56235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C91AA"/>
                </a:solidFill>
                <a:latin typeface="PingFang SC"/>
                <a:ea typeface="PingFang SC"/>
              </a:rPr>
              <a:t>基准场景：Full Attention · Llama-3-8B · PP2×TP2（一切差异相对它而言）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82F67"/>
                </a:solidFill>
                <a:latin typeface="PingFang SC"/>
                <a:ea typeface="PingFang SC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07008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64008" cy="1207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2F67"/>
                </a:solidFill>
                <a:latin typeface="PingFang SC"/>
                <a:ea typeface="PingFang SC"/>
              </a:rPr>
              <a:t>1  KV Cache 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自回归重算 O(n²) → 时间换空间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07008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207008"/>
            <a:ext cx="64008" cy="1207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2F67"/>
                </a:solidFill>
                <a:latin typeface="PingFang SC"/>
                <a:ea typeface="PingFang SC"/>
              </a:rPr>
              <a:t>2  PagedAttention 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虚拟内存式分页：切块 · 翻译 · 按需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78608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578608"/>
            <a:ext cx="64008" cy="1207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2F67"/>
                </a:solidFill>
                <a:latin typeface="PingFang SC"/>
                <a:ea typeface="PingFang SC"/>
              </a:rPr>
              <a:t>3  类型串讲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186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Full / MLA / Mamba 三大家族 + 变体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78608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578608"/>
            <a:ext cx="64008" cy="1207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2F67"/>
                </a:solidFill>
                <a:latin typeface="PingFang SC"/>
                <a:ea typeface="PingFang SC"/>
              </a:rPr>
              <a:t>4  管理架构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186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五层组件 × Engine / Worker 分工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50208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950208"/>
            <a:ext cx="64008" cy="1207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2F67"/>
                </a:solidFill>
                <a:latin typeface="PingFang SC"/>
                <a:ea typeface="PingFang SC"/>
              </a:rPr>
              <a:t>5  初始化阶段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逻辑规格 → 预算 → 物理创建（含 pp2tp2 手算）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50208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3950208"/>
            <a:ext cx="64008" cy="1207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2F67"/>
                </a:solidFill>
                <a:latin typeface="PingFang SC"/>
                <a:ea typeface="PingFang SC"/>
              </a:rPr>
              <a:t>6  运行阶段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902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block_id 的调度流转与读写路径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21808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321808"/>
            <a:ext cx="64008" cy="1207008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4864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2F67"/>
                </a:solidFill>
                <a:latin typeface="PingFang SC"/>
                <a:ea typeface="PingFang SC"/>
              </a:rPr>
              <a:t>7  请求端到端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618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一条请求的一生 · 异常回收 · 复用闭环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7C91AA"/>
                </a:solidFill>
                <a:latin typeface="PingFang SC"/>
                <a:ea typeface="PingFang SC"/>
              </a:rPr>
              <a:t>学习路径：00 共同语言 → A 类型 → B/C/D 纵向三线 → E 场景差异（差异只记“变了什么”）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1 · 为什么需要 KV Cache：用显存换掉重复计算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7315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不缓存：每一步都把历史 K/V 重算一遍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910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step1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572768"/>
            <a:ext cx="274320" cy="274320"/>
          </a:xfrm>
          <a:prstGeom prst="rect">
            <a:avLst/>
          </a:prstGeom>
          <a:solidFill>
            <a:srgbClr val="F8CECC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56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step2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938528"/>
            <a:ext cx="274320" cy="274320"/>
          </a:xfrm>
          <a:prstGeom prst="rect">
            <a:avLst/>
          </a:prstGeom>
          <a:solidFill>
            <a:srgbClr val="F8CECC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39696" y="1938528"/>
            <a:ext cx="274320" cy="274320"/>
          </a:xfrm>
          <a:prstGeom prst="rect">
            <a:avLst/>
          </a:prstGeom>
          <a:solidFill>
            <a:srgbClr val="F8CECC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225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step3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304288"/>
            <a:ext cx="274320" cy="274320"/>
          </a:xfrm>
          <a:prstGeom prst="rect">
            <a:avLst/>
          </a:prstGeom>
          <a:solidFill>
            <a:srgbClr val="F8CECC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9696" y="2304288"/>
            <a:ext cx="274320" cy="274320"/>
          </a:xfrm>
          <a:prstGeom prst="rect">
            <a:avLst/>
          </a:prstGeom>
          <a:solidFill>
            <a:srgbClr val="F8CECC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0592" y="2304288"/>
            <a:ext cx="274320" cy="274320"/>
          </a:xfrm>
          <a:prstGeom prst="rect">
            <a:avLst/>
          </a:prstGeom>
          <a:solidFill>
            <a:srgbClr val="F8CECC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82880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红格 = 每步重读的历史 K/V</a:t>
            </a:r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随序列增长，累计 Σi → O(n²)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748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自回归每步只生成 1 token，注意力却要吃全部历史 K/V——</a:t>
            </a:r>
            <a:r>
              <a:rPr sz="1250" b="1">
                <a:solidFill>
                  <a:srgbClr val="F8CECC"/>
                </a:solidFill>
                <a:latin typeface="PingFang SC"/>
                <a:ea typeface="PingFang SC"/>
              </a:rPr>
              <a:t>不缓存，每步都在白干。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7315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75887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有 KV Cache：一次算好、逐格入库，之后只做增量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059936"/>
            <a:ext cx="493776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59936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35607" y="4059936"/>
            <a:ext cx="493776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35607" y="4059936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02536" y="4059936"/>
            <a:ext cx="493776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02536" y="4059936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9463" y="4059936"/>
            <a:ext cx="493776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9463" y="4059936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36391" y="4059936"/>
            <a:ext cx="493776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1" y="4059936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114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← 每步只新增 1 格（新的 K/V）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5720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55D4"/>
                </a:solidFill>
                <a:latin typeface="PingFang SC"/>
                <a:ea typeface="PingFang SC"/>
              </a:rPr>
              <a:t>每步 O(1) 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增量读取；整序列 O(n)。蓝=已入库 K/V，黄=本步新算。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1143000"/>
            <a:ext cx="3520440" cy="379476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128016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三个要点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166420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① 时间换空间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1975104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缓存不是免费：K/V 显存常驻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72491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② 瓶颈转移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03580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重新计算 → 显存容量/带宽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785615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③ 管理课题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09651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切多大块？谁在用？何时回收？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120640"/>
            <a:ext cx="10972800" cy="118872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248656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数量级证据（Llama-3-8B · fp16 · TP 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61441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每 token 全模型 K/V = 2 × 32层 × 8头 × 128维 × 2B = </a:t>
            </a:r>
            <a:r>
              <a:rPr sz="1350" b="1">
                <a:solidFill>
                  <a:srgbClr val="0B55D4"/>
                </a:solidFill>
                <a:latin typeface="PingFang SC"/>
                <a:ea typeface="PingFang SC"/>
              </a:rPr>
              <a:t>256 KB/token</a:t>
            </a:r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　→ 一条 70-token 请求 ≈ 17 MB，64 条并发 × 长序列 = GB 级常驻，必须系统化管理。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2 · PagedAttention：像 OS 管内存一样管 KV 显存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7315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8C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43584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PingFang SC"/>
                <a:ea typeface="PingFang SC"/>
              </a:rPr>
              <a:t>连续预分配：一条整段，两类浪费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9344"/>
            <a:ext cx="256032" cy="329184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1288" y="1609344"/>
            <a:ext cx="256032" cy="329184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53895" y="1609344"/>
            <a:ext cx="256032" cy="329184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6504" y="1609344"/>
            <a:ext cx="256032" cy="329184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9112" y="1609344"/>
            <a:ext cx="256032" cy="329184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4328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6936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9544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2152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87368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9976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72584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65192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7800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50408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43016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8232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13448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6056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98664" y="1609344"/>
            <a:ext cx="256032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19751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8 亮=实际 60 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1572768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PingFang SC"/>
                <a:ea typeface="PingFang SC"/>
              </a:rPr>
              <a:t>内部浪费 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余下 24 格闲置；</a:t>
            </a:r>
          </a:p>
          <a:p>
            <a:pPr algn="l"/>
            <a:r>
              <a:rPr sz="1150" b="1">
                <a:solidFill>
                  <a:srgbClr val="C0392B"/>
                </a:solidFill>
                <a:latin typeface="PingFang SC"/>
                <a:ea typeface="PingFang SC"/>
              </a:rPr>
              <a:t>外部碎片 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释放后的零头凑不成整段，新请求进不来。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2395728"/>
            <a:ext cx="914400" cy="23774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0" y="2395728"/>
            <a:ext cx="640080" cy="23774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34640" y="2395728"/>
            <a:ext cx="1188720" cy="23774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23774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灰色小段 = 外部碎片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154680"/>
            <a:ext cx="73152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264408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55D4"/>
                </a:solidFill>
                <a:latin typeface="PingFang SC"/>
                <a:ea typeface="PingFang SC"/>
              </a:rPr>
              <a:t>PagedAttention：切块 · 翻译 · 按需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144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35607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19072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8680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2144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35607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19072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2793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82F67"/>
                </a:solidFill>
                <a:latin typeface="PingFang SC"/>
                <a:ea typeface="PingFang SC"/>
              </a:rPr>
              <a:t>blk0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86584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70048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953511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03120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86584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70048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53511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0" y="42793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82F67"/>
                </a:solidFill>
                <a:latin typeface="PingFang SC"/>
                <a:ea typeface="PingFang SC"/>
              </a:rPr>
              <a:t>blk1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21024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04488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87952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21024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04488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87952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37560" y="42793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82F67"/>
                </a:solidFill>
                <a:latin typeface="PingFang SC"/>
                <a:ea typeface="PingFang SC"/>
              </a:rPr>
              <a:t>blk2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855464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138928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22392" y="3611880"/>
            <a:ext cx="256032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0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855464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38928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22392" y="3922776"/>
            <a:ext cx="256032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42793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82F67"/>
                </a:solidFill>
                <a:latin typeface="PingFang SC"/>
                <a:ea typeface="PingFang SC"/>
              </a:rPr>
              <a:t>blk3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46177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4 块逻辑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60" y="3657600"/>
            <a:ext cx="384048" cy="292608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80760" y="3657600"/>
            <a:ext cx="384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3657600"/>
            <a:ext cx="384048" cy="292608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37960" y="3657600"/>
            <a:ext cx="384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95160" y="3657600"/>
            <a:ext cx="384048" cy="292608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95160" y="3657600"/>
            <a:ext cx="384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52360" y="3657600"/>
            <a:ext cx="384048" cy="292608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52360" y="3657600"/>
            <a:ext cx="384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97880" y="33101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82F67"/>
                </a:solidFill>
                <a:latin typeface="PingFang SC"/>
                <a:ea typeface="PingFang SC"/>
              </a:rPr>
              <a:t>block_table（翻译卡）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43600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291072" y="4224528"/>
            <a:ext cx="310896" cy="347472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91072" y="4224528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38544" y="4224528"/>
            <a:ext cx="310896" cy="347472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38544" y="4224528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986016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33488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80960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28432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75904" y="4224528"/>
            <a:ext cx="310896" cy="347472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75904" y="4224528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723376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070848" y="4224528"/>
            <a:ext cx="310896" cy="347472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70848" y="4224528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418320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65792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113264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460736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808208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155680" y="4224528"/>
            <a:ext cx="310896" cy="347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97880" y="46268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C91AA"/>
                </a:solidFill>
                <a:latin typeface="PingFang SC"/>
                <a:ea typeface="PingFang SC"/>
              </a:rPr>
              <a:t>14 格显存条：</a:t>
            </a:r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点亮 =逻辑块的物理落点（不连续）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138160" y="1143000"/>
            <a:ext cx="3520440" cy="425196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66760" y="128016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三步法（类比虚拟内存）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366760" y="1682496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366760" y="1700784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42832" y="164592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切块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199339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固定大小物理块，每块 block_size 个 token（cache.py:47）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366760" y="2871216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66760" y="2889504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42832" y="283464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翻译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318211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每请求一张 block_table：逻辑块号→block_id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366760" y="4059936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366760" y="4078224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42832" y="402336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按需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42832" y="437083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写满才领下一块，不预留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" y="5541264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8680" y="56235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82F67"/>
                </a:solidFill>
                <a:latin typeface="PingFang SC"/>
                <a:ea typeface="PingFang SC"/>
              </a:rPr>
              <a:t>四要素：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91640" y="562356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block_size 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块容量 · </a:t>
            </a:r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page_size_bytes 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块字节 · </a:t>
            </a:r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num_blocks 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池容量 · </a:t>
            </a:r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block_table 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翻译器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680" y="596188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55D4"/>
                </a:solidFill>
                <a:latin typeface="PingFang SC"/>
                <a:ea typeface="PingFang SC"/>
              </a:rPr>
              <a:t>铁律① </a:t>
            </a:r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调度只认 block_id，kernel 只认张量行号；　</a:t>
            </a:r>
            <a:r>
              <a:rPr sz="1250" b="1">
                <a:solidFill>
                  <a:srgbClr val="0B55D4"/>
                </a:solidFill>
                <a:latin typeface="PingFang SC"/>
                <a:ea typeface="PingFang SC"/>
              </a:rPr>
              <a:t>铁律② </a:t>
            </a:r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block_id == 张量行号 → 全模型一份 block_table。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3 · 类型串讲：三大家族决定“块里装什么”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70432"/>
            <a:ext cx="10972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70432"/>
            <a:ext cx="64008" cy="1188720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6187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2F67"/>
                </a:solidFill>
                <a:latin typeface="PingFang SC"/>
                <a:ea typeface="PingFang SC"/>
              </a:rPr>
              <a:t>A · FullAttention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每个 KV 头完整 K/V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2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01184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2936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04688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9944" y="1335024"/>
            <a:ext cx="274320" cy="274320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99432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01184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02936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04688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06440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9944" y="1645920"/>
            <a:ext cx="274320" cy="274320"/>
          </a:xfrm>
          <a:prstGeom prst="rect">
            <a:avLst/>
          </a:prstGeom>
          <a:solidFill>
            <a:srgbClr val="B9E0A5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9568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K蓝 / V绿 双卷 · 每头独立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29844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page = block_size × nh × (hd+hd) × 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1719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C91AA"/>
                </a:solidFill>
                <a:latin typeface="PingFang SC"/>
                <a:ea typeface="PingFang SC"/>
              </a:rPr>
              <a:t>Llama / Qwen 通用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468880"/>
            <a:ext cx="10972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2468880"/>
            <a:ext cx="64008" cy="1188720"/>
          </a:xfrm>
          <a:prstGeom prst="roundRect">
            <a:avLst>
              <a:gd name="adj" fmla="val 10000"/>
            </a:avLst>
          </a:prstGeom>
          <a:solidFill>
            <a:srgbClr val="E6B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56032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2F67"/>
                </a:solidFill>
                <a:latin typeface="PingFang SC"/>
                <a:ea typeface="PingFang SC"/>
              </a:rPr>
              <a:t>B · MLA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9443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每 token 一条压缩 latent（无头维）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743200"/>
            <a:ext cx="365760" cy="402336"/>
          </a:xfrm>
          <a:prstGeom prst="rect">
            <a:avLst/>
          </a:prstGeom>
          <a:solidFill>
            <a:srgbClr val="FFE9A8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00016" y="2743200"/>
            <a:ext cx="365760" cy="402336"/>
          </a:xfrm>
          <a:prstGeom prst="rect">
            <a:avLst/>
          </a:prstGeom>
          <a:solidFill>
            <a:srgbClr val="F5D06F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02352" y="2743200"/>
            <a:ext cx="365760" cy="402336"/>
          </a:xfrm>
          <a:prstGeom prst="rect">
            <a:avLst/>
          </a:prstGeom>
          <a:solidFill>
            <a:srgbClr val="E6B96B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04688" y="2743200"/>
            <a:ext cx="365760" cy="402336"/>
          </a:xfrm>
          <a:prstGeom prst="rect">
            <a:avLst/>
          </a:prstGeom>
          <a:solidFill>
            <a:srgbClr val="FFE9A8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07024" y="2743200"/>
            <a:ext cx="365760" cy="402336"/>
          </a:xfrm>
          <a:prstGeom prst="rect">
            <a:avLst/>
          </a:prstGeom>
          <a:solidFill>
            <a:srgbClr val="F5D06F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743200"/>
            <a:ext cx="365760" cy="402336"/>
          </a:xfrm>
          <a:prstGeom prst="rect">
            <a:avLst/>
          </a:prstGeom>
          <a:solidFill>
            <a:srgbClr val="E6B96B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325526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NoPE + RoPE 一条宽记录 · 无 head 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259689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page = 64 × 576 × 2B = 72 KB（bs=64）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017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C91AA"/>
                </a:solidFill>
                <a:latin typeface="PingFang SC"/>
                <a:ea typeface="PingFang SC"/>
              </a:rPr>
              <a:t>DeepSeek-V3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767328"/>
            <a:ext cx="10972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" y="3767328"/>
            <a:ext cx="64008" cy="1188720"/>
          </a:xfrm>
          <a:prstGeom prst="roundRect">
            <a:avLst>
              <a:gd name="adj" fmla="val 10000"/>
            </a:avLst>
          </a:prstGeom>
          <a:solidFill>
            <a:srgbClr val="82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3858768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2F67"/>
                </a:solidFill>
                <a:latin typeface="PingFang SC"/>
                <a:ea typeface="PingFang SC"/>
              </a:rPr>
              <a:t>C · Mamba / GDN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2428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一份就地更新的递归状态（固定字节·常驻）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80" y="3986784"/>
            <a:ext cx="1371600" cy="548640"/>
          </a:xfrm>
          <a:prstGeom prst="rect">
            <a:avLst/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3986784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ssm 状态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3986784"/>
            <a:ext cx="731520" cy="548640"/>
          </a:xfrm>
          <a:prstGeom prst="rect">
            <a:avLst/>
          </a:prstGeom>
          <a:solidFill>
            <a:srgbClr val="FFE6CC"/>
          </a:solidFill>
          <a:ln w="952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0" y="3986784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conv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5537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整块一份状态 · 写满也不释放（常驻）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895344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conv + ssm ≈ 274 KB（与 block_size 无关）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3159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C91AA"/>
                </a:solidFill>
                <a:latin typeface="PingFang SC"/>
                <a:ea typeface="PingFang SC"/>
              </a:rPr>
              <a:t>Qwen3-Next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138928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2486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变体与继承（一两句）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596128"/>
            <a:ext cx="106070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26F91"/>
                </a:solidFill>
                <a:latin typeface="PingFang SC"/>
                <a:ea typeface="PingFang SC"/>
              </a:rPr>
              <a:t>格式变体（改字节/布局）：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量化 FP8/INT8/INT4/NVFP4 · Diff-KV（K≠V 头数）· HND/NHD stride　　</a:t>
            </a:r>
            <a:r>
              <a:rPr sz="1200" b="1">
                <a:solidFill>
                  <a:srgbClr val="526F91"/>
                </a:solidFill>
                <a:latin typeface="PingFang SC"/>
                <a:ea typeface="PingFang SC"/>
              </a:rPr>
              <a:t>语义变体（布局不变、改驻留）：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SWA · ChunkedLocal · Sink · Cross　　</a:t>
            </a:r>
          </a:p>
          <a:p>
            <a:pPr algn="l"/>
            <a:r>
              <a:rPr sz="1200" b="1">
                <a:solidFill>
                  <a:srgbClr val="526F91"/>
                </a:solidFill>
                <a:latin typeface="PingFang SC"/>
                <a:ea typeface="PingFang SC"/>
              </a:rPr>
              <a:t>继承两支：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AttentionSpec 支（Full 派生 MLA/SWA/Sink…，共用 merge）｜独立支 MambaSpec｜容器支 UniformTypeKVCacheSpecs（同型层聚合）｜kv_cache_interface.py:100-953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4 · 管理架构：五层组件，Engine 记账 / Worker 干活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70432"/>
            <a:ext cx="6766560" cy="7680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 w="12700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43584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PingFang SC"/>
                <a:ea typeface="PingFang SC"/>
              </a:rPr>
              <a:t>L5 KVCacheManager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9105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E8F1FF"/>
                </a:solidFill>
                <a:latin typeface="PingFang SC"/>
                <a:ea typeface="PingFang SC"/>
              </a:rPr>
              <a:t>门面：准入 · 分配 · 释放的唯一入口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716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D9E9FF"/>
                </a:solidFill>
                <a:latin typeface="PingFang SC"/>
                <a:ea typeface="PingFang SC"/>
              </a:rPr>
              <a:t>kvcm.py:117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1938528"/>
            <a:ext cx="0" cy="128015"/>
          </a:xfrm>
          <a:prstGeom prst="line">
            <a:avLst/>
          </a:prstGeom>
          <a:ln w="1905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066543"/>
            <a:ext cx="6766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39696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L4 KVCacheCoordinator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8716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跨组协调：命中聚合 · 两阶段分配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6771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kvcco.py:60/435/521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34639"/>
            <a:ext cx="0" cy="128017"/>
          </a:xfrm>
          <a:prstGeom prst="line">
            <a:avLst/>
          </a:prstGeom>
          <a:ln w="1905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2962656"/>
            <a:ext cx="6766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3580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L3 SingleTypeKVCacheManager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8328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单类型策略：Full / SWA / Mamba / Cross…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1638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st.py:36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3730752"/>
            <a:ext cx="0" cy="128016"/>
          </a:xfrm>
          <a:prstGeom prst="line">
            <a:avLst/>
          </a:prstGeom>
          <a:ln w="1905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3858768"/>
            <a:ext cx="6766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L2 BlockPool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79392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全局唯一池：分配/touch/写回/驱逐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059935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bp.py:143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23360" y="4626864"/>
            <a:ext cx="0" cy="128015"/>
          </a:xfrm>
          <a:prstGeom prst="line">
            <a:avLst/>
          </a:prstGeom>
          <a:ln w="1905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4754880"/>
            <a:ext cx="6766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28032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L1 物理张量 kv_caches[layer]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17550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每 worker 每层一份，行号=block_id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95604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GMR:563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1170432"/>
            <a:ext cx="3977639" cy="237744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128016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L2 BlockPool：一排格子池（→C1）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1627632"/>
            <a:ext cx="36576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0 nul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11896" y="1627632"/>
            <a:ext cx="365760" cy="365760"/>
          </a:xfrm>
          <a:prstGeom prst="rect">
            <a:avLst/>
          </a:prstGeom>
          <a:solidFill>
            <a:srgbClr val="9AC3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14232" y="1627632"/>
            <a:ext cx="365760" cy="365760"/>
          </a:xfrm>
          <a:prstGeom prst="rect">
            <a:avLst/>
          </a:prstGeom>
          <a:solidFill>
            <a:srgbClr val="9AC3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2·H(k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16568" y="1627632"/>
            <a:ext cx="36576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6568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18904" y="1627632"/>
            <a:ext cx="365760" cy="365760"/>
          </a:xfrm>
          <a:prstGeom prst="rect">
            <a:avLst/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18904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7·H(k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1627632"/>
            <a:ext cx="365760" cy="365760"/>
          </a:xfrm>
          <a:prstGeom prst="rect">
            <a:avLst/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23576" y="1627632"/>
            <a:ext cx="365760" cy="365760"/>
          </a:xfrm>
          <a:prstGeom prst="rect">
            <a:avLst/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23576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25912" y="1627632"/>
            <a:ext cx="365760" cy="365760"/>
          </a:xfrm>
          <a:prstGeom prst="rect">
            <a:avLst/>
          </a:prstGeom>
          <a:solidFill>
            <a:srgbClr val="9AC3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25912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5·H(k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128248" y="1627632"/>
            <a:ext cx="36576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28248" y="1627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PingFang SC"/>
                <a:ea typeface="PingFang SC"/>
              </a:rPr>
              <a:t>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204825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26F91"/>
                </a:solidFill>
                <a:latin typeface="PingFang SC"/>
                <a:ea typeface="PingFang SC"/>
              </a:rPr>
              <a:t>绿=空闲在链(队首先复用) 蓝=被引用 黄=已缓存可驱逐 灰=null/空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239572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82F67"/>
                </a:solidFill>
                <a:latin typeface="PingFang SC"/>
                <a:ea typeface="PingFang SC"/>
              </a:rPr>
              <a:t>约定：</a:t>
            </a:r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分配 = 队首弹出 + ref_cnt 0→1；命中 = touch +1（零拷贝）；释放 = 逆序 ref_cnt−−；驱逐 = 只清哈希条目，不动物理页。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80960" y="3730752"/>
            <a:ext cx="3977639" cy="24871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384048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两侧分工（唯一耦合 = 数字）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4187952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55D4"/>
                </a:solidFill>
                <a:latin typeface="PingFang SC"/>
                <a:ea typeface="PingFang SC"/>
              </a:rPr>
              <a:t>Engine/Scheduler </a:t>
            </a:r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记账与决策：准入、命中查找、allocate_slots，产出整数元组。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5120640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55D4"/>
                </a:solidFill>
                <a:latin typeface="PingFang SC"/>
                <a:ea typeface="PingFang SC"/>
              </a:rPr>
              <a:t>Worker/ModelRunner </a:t>
            </a:r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本地解释：清零新块、写 slot、按行读 KV；看不到 ref_cnt/哈希。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5 · 初始化（上）：逻辑规格 → 预算 → 物理创建，一条链走完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51790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517904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37160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① 提规格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719072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每层 get_kv_cache_spec
(TP 已切 KV 头)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57984" y="1965960"/>
            <a:ext cx="109728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67712" y="1234440"/>
            <a:ext cx="151790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67712" y="1234440"/>
            <a:ext cx="1517904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864" y="137160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② 聚组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864" y="1719072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同款 spec 合并
→ KVCacheGroupSpec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85615" y="1965960"/>
            <a:ext cx="109729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95344" y="1234440"/>
            <a:ext cx="151790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95344" y="1234440"/>
            <a:ext cx="1517904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8496" y="137160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③ 测预算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1719072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profile run
→ available 显存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13248" y="1965960"/>
            <a:ext cx="109728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22976" y="1234440"/>
            <a:ext cx="151790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22976" y="1234440"/>
            <a:ext cx="1517904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137160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④ 算块数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1719072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num_blocks =
available÷页÷组内层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1965960"/>
            <a:ext cx="109728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50608" y="1234440"/>
            <a:ext cx="151790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50608" y="1234440"/>
            <a:ext cx="1517904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37160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⑤ 订货单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1719072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KVCacheTensor × 组内层数
(size, shared_by)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68512" y="1965960"/>
            <a:ext cx="109728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78240" y="1234440"/>
            <a:ext cx="151790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78240" y="1234440"/>
            <a:ext cx="1517904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51392" y="137160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⑥ 物理创建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1719072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int8 底座 → reshape
零拷贝 → bind 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96144" y="1965960"/>
            <a:ext cx="109728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405872" y="1234440"/>
            <a:ext cx="151790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05872" y="1234440"/>
            <a:ext cx="1517904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79024" y="137160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⑦ 装管理层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9024" y="1719072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五层实例化
Engine 手握门面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9718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07238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产物交接：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3072384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spec 清单 → 分组结果 → KVCacheConfig(num_blocks+订货单) → 每卡 16 张张量 → 五层管理器</a:t>
            </a:r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（谁产谁收全程可追溯到 core.py:248-329）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3931920"/>
            <a:ext cx="54864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0599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2F67"/>
                </a:solidFill>
                <a:latin typeface="PingFang SC"/>
                <a:ea typeface="PingFang SC"/>
              </a:rPr>
              <a:t>为什么顺序不可颠倒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517136"/>
            <a:ext cx="4937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① 规格未定 → 无法计价（每块多大都不知道）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084064"/>
            <a:ext cx="4937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② 预算未定 → 无法订货（多少块说不出口）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5650992"/>
            <a:ext cx="4937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③ 物理未建 → 管理层无东西可管（账本指向空）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931920"/>
            <a:ext cx="5212080" cy="228600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059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关键问题：为什么 num_blocks 要除以组内层数？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517136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一个 block_id 被占用时，组内 16 层同时各锁一页——每块真实代价 = 16 × 32KiB = </a:t>
            </a:r>
            <a:r>
              <a:rPr sz="1250" b="1">
                <a:solidFill>
                  <a:srgbClr val="0B55D4"/>
                </a:solidFill>
                <a:latin typeface="PingFang SC"/>
                <a:ea typeface="PingFang SC"/>
              </a:rPr>
              <a:t>512 KiB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55778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B25E00"/>
                </a:solidFill>
                <a:latin typeface="PingFang SC"/>
                <a:ea typeface="PingFang SC"/>
              </a:rPr>
              <a:t>同类推：MLA 单层组除以 1；混合模型先统一页字节再算（→E1）。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5 · 初始化（下）：pp2tp2 每个数字都能手算出来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949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① 页字节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9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page = 16 × 4头 × (128+128) × 2B = </a:t>
            </a:r>
            <a:r>
              <a:rPr sz="1250" b="1">
                <a:solidFill>
                  <a:srgbClr val="0B55D4"/>
                </a:solidFill>
                <a:latin typeface="PingFang SC"/>
                <a:ea typeface="PingFang SC"/>
              </a:rPr>
              <a:t>32 KiB</a:t>
            </a:r>
            <a:r>
              <a:rPr sz="1050" b="0">
                <a:solidFill>
                  <a:srgbClr val="7C91AA"/>
                </a:solidFill>
                <a:latin typeface="PingFang SC"/>
                <a:ea typeface="PingFang SC"/>
              </a:rPr>
              <a:t>（TP2 口径；TP1 = 64KiB）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② 池容量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3230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num_blocks = 2GiB ÷ 32KiB ÷ 16层 = </a:t>
            </a:r>
            <a:r>
              <a:rPr sz="1300" b="1">
                <a:solidFill>
                  <a:srgbClr val="0B55D4"/>
                </a:solidFill>
                <a:latin typeface="PingFang SC"/>
                <a:ea typeface="PingFang SC"/>
              </a:rPr>
              <a:t>4096 块</a:t>
            </a:r>
            <a:r>
              <a:rPr sz="1050" b="0">
                <a:solidFill>
                  <a:srgbClr val="7C91AA"/>
                </a:solidFill>
                <a:latin typeface="PingFang SC"/>
                <a:ea typeface="PingFang SC"/>
              </a:rPr>
              <a:t>（四卡一致）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③ 张量形状与底座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55D4"/>
                </a:solidFill>
                <a:latin typeface="PingFang SC"/>
                <a:ea typeface="PingFang SC"/>
              </a:rPr>
              <a:t>shape = (4096, 4, 16, 256)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；每块真实代价 512KiB × 4096 = 2GiB 自洽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82F67"/>
                </a:solidFill>
                <a:latin typeface="PingFang SC"/>
                <a:ea typeface="PingFang SC"/>
              </a:rPr>
              <a:t>创建四步：</a:t>
            </a:r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订货单 16 条 → torch.zeros(int8) 底座 → view(dtype).view(shape) + permute（零拷贝，不搬数据）→ 逐层 bind 进 kv_caches[16] 与 forward 上下文。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校验：</a:t>
            </a:r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16 张量 × 32KiB × 4096 = 2GiB = available；null_block 占 block_id 0 → 可分配 4095。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watermark：默认 0.0，不扣启动预算，只在运行期准入时要求空闲余量（→7）。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43000"/>
            <a:ext cx="5349240" cy="507492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280160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82F67"/>
                </a:solidFill>
                <a:latin typeface="PingFang SC"/>
                <a:ea typeface="PingFang SC"/>
              </a:rPr>
              <a:t>逻辑→物理：同一 block_id 跨 16 层同行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R 的块表 [0,1,2,3,4]；每行一“层组”。</a:t>
            </a:r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高亮 = 本请求的页。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7627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层组 0（0..7）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103120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103120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2103120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103120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103120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2103120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0" y="2103120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64240" y="2103120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0" y="2103120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834639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层组 1（8..15）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761487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761487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2761487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761487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2761487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49840" y="2761487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98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07040" y="2761487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070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064240" y="2761487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0" y="2761487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34930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层组 2（16..23）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3419856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3419856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3419856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3419856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54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3419856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419856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07040" y="3419856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070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064240" y="3419856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64240" y="3419856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4151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层组 3（24..31）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4078224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638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4078224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210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78240" y="4078224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4078224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354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92640" y="4078224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926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9840" y="4078224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07040" y="4078224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070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64240" y="4078224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064240" y="4078224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37960" y="480974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层组 4（32..39）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63840" y="4736592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638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21040" y="4736592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210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78240" y="4736592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782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35440" y="4736592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354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92640" y="4736592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926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49840" y="4736592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1498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07040" y="4736592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6070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064240" y="4736592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64240" y="4736592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37960" y="54681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层组 5（40..47）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863840" y="5394959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8638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321040" y="5394959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210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78240" y="5394959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7782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235440" y="5394959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2354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92640" y="5394959"/>
            <a:ext cx="41148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926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149840" y="5394959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1498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07040" y="5394959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6070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064240" y="5394959"/>
            <a:ext cx="41148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0" y="5394959"/>
            <a:ext cx="411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…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37960" y="6126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16 层 × 4 卡（PP2×TP2）全部用同一张 block_table —— </a:t>
            </a:r>
            <a:r>
              <a:rPr sz="1100" b="1">
                <a:solidFill>
                  <a:srgbClr val="0B55D4"/>
                </a:solidFill>
                <a:latin typeface="PingFang SC"/>
                <a:ea typeface="PingFang SC"/>
              </a:rPr>
              <a:t>行号即地址。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6 · 运行（上）：Engine 记账 → 广播 → Worker 消费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15568"/>
            <a:ext cx="6949440" cy="1298448"/>
          </a:xfrm>
          <a:prstGeom prst="roundRect">
            <a:avLst>
              <a:gd name="adj" fmla="val 10000"/>
            </a:avLst>
          </a:prstGeom>
          <a:solidFill>
            <a:srgbClr val="DAE8FC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25295"/>
            <a:ext cx="6492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Scheduler 调度台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9344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记：准入判定 · 查前缀 · 算分配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05456"/>
            <a:ext cx="6949440" cy="1298448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15184"/>
            <a:ext cx="6492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KVCacheManager 账房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9232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记：命中 [0,1] touch；新块 [2,3,4] 出池；满块写回哈希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5344"/>
            <a:ext cx="6949440" cy="1298448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6492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SchedulerOutput（整包广播）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三联单：new=[2,3,4] · cached=[0,1] · to_zero=[2,3,4]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85232"/>
            <a:ext cx="6949440" cy="1298448"/>
          </a:xfrm>
          <a:prstGeom prst="roundRect">
            <a:avLst>
              <a:gd name="adj" fmla="val 10000"/>
            </a:avLst>
          </a:prstGeom>
          <a:solidFill>
            <a:srgbClr val="D5E8D4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6492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Worker ×4（各卡独立 buffer）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79008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用：清零新块 → 块表追加 → commit 到 GPU → kernel 读写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2377440"/>
            <a:ext cx="0" cy="73152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250545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C91AA"/>
                </a:solidFill>
                <a:latin typeface="PingFang SC"/>
                <a:ea typeface="PingFang SC"/>
              </a:rPr>
              <a:t>① 记账完成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3767328"/>
            <a:ext cx="0" cy="73152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51960" y="389534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C91AA"/>
                </a:solidFill>
                <a:latin typeface="PingFang SC"/>
                <a:ea typeface="PingFang SC"/>
              </a:rPr>
              <a:t>② 打包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5157216"/>
            <a:ext cx="0" cy="73152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51960" y="5285231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C91AA"/>
                </a:solidFill>
                <a:latin typeface="PingFang SC"/>
                <a:ea typeface="PingFang SC"/>
              </a:rPr>
              <a:t>③ 本地解释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1143000"/>
            <a:ext cx="3886200" cy="251460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261872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广播语义：数字即接口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609344"/>
            <a:ext cx="3474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同一份 per-group ids 发给 4 张卡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267712"/>
            <a:ext cx="3474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TP 切头/PP 切层 → 物理不同，编号相同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926080"/>
            <a:ext cx="3474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append-only 保证运行期块表永不改写（I1）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840480"/>
            <a:ext cx="38862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950208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82F67"/>
                </a:solidFill>
                <a:latin typeface="PingFang SC"/>
                <a:ea typeface="PingFang SC"/>
              </a:rPr>
              <a:t>前缀缓存（同一 Manager 顺路完成）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297680"/>
            <a:ext cx="3474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命中：链式哈希查登记簿 → touch +1（零拷贝）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919472"/>
            <a:ext cx="3474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写回：满块挂哈希，幂等防重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5541264"/>
            <a:ext cx="3474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收益：P→R 共享前缀，第二次请求少算 32 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6 · 运行（下）：写用 slot，读用行号——同一个 block_id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188720"/>
            <a:ext cx="950976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28016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kv_caches[layer] 的块行（每格 = 1 个 slot）R：prefill 0..69 已填，decode pos=70 正在填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556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blk0 · slots 0..15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2583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7216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41848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1848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11112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5744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0375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5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34272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4272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18904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18904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03536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03536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88167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88167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0" y="1700784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0" y="1700784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22677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blk1 · slots 16..31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87952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72583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72583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57216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57216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19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1848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41848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11112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11112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95744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95744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0375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0375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65008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65008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49640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49640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34272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34272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18904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18904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03536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03536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29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88167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88167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0" y="2212848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0" y="2212848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40280" y="27797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blk2 · slots 32..47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03320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03320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87952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87952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72583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72583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57216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57216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1848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41848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6480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11112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11112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95744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95744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39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80375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80375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065008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65008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49640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49640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034272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34272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18904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518904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03536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03536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488167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88167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972800" y="2724912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972800" y="272491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0280" y="329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blk3 · slots 48..63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703320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703320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87952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187952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49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72583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72583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157216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157216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41848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41848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26480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26480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611112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611112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095744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95744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580375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580375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065008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65008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49640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549640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34272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34272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59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518904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18904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003536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03536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488167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488167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972800" y="3236976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972800" y="3236976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240280" y="38039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blk4 · slots 64..79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703320" y="3749040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703320" y="3749040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187952" y="3749040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87952" y="3749040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672583" y="3749040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672583" y="3749040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157216" y="3749040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157216" y="3749040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41848" y="3749040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41848" y="3749040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26480" y="3749040"/>
            <a:ext cx="457200" cy="402336"/>
          </a:xfrm>
          <a:prstGeom prst="rect">
            <a:avLst/>
          </a:prstGeom>
          <a:solidFill>
            <a:srgbClr val="9AC3FF"/>
          </a:solidFill>
          <a:ln w="9525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126480" y="3749040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PingFang SC"/>
                <a:ea typeface="PingFang SC"/>
              </a:rPr>
              <a:t>69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611112" y="3749040"/>
            <a:ext cx="457200" cy="402336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11112" y="3749040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PingFang SC"/>
                <a:ea typeface="PingFang SC"/>
              </a:rPr>
              <a:t>70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095744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580375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065008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549640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034272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518904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003536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488167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972800" y="3749040"/>
            <a:ext cx="457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228600" y="1188720"/>
            <a:ext cx="1828800" cy="301752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65760" y="13716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55D4"/>
                </a:solidFill>
                <a:latin typeface="PingFang SC"/>
                <a:ea typeface="PingFang SC"/>
              </a:rPr>
              <a:t>写路径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65760" y="1773936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B55D4"/>
                </a:solidFill>
                <a:latin typeface="PingFang SC"/>
                <a:ea typeface="PingFang SC"/>
              </a:rPr>
              <a:t>slot = block_id × 16 + offset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65760" y="2194560"/>
            <a:ext cx="16459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① triton 由块表+pos 算 slot_mapping（:407）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65760" y="3017520"/>
            <a:ext cx="16459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② kernel 沿 slot 写 K/V（写满先由调度器开新块）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875520" y="1188720"/>
            <a:ext cx="1828800" cy="3017520"/>
          </a:xfrm>
          <a:prstGeom prst="roundRect">
            <a:avLst>
              <a:gd name="adj" fmla="val 10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012680" y="13716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PingFang SC"/>
                <a:ea typeface="PingFang SC"/>
              </a:rPr>
              <a:t>读路径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012680" y="1773936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PingFang SC"/>
                <a:ea typeface="PingFang SC"/>
              </a:rPr>
              <a:t>kv_caches[layer][:, block_ids]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012680" y="2194560"/>
            <a:ext cx="16459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① 每请求一行块表（int32，commit 到 GPU）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012680" y="3017520"/>
            <a:ext cx="16459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26F91"/>
                </a:solidFill>
                <a:latin typeface="PingFang SC"/>
                <a:ea typeface="PingFang SC"/>
              </a:rPr>
              <a:t>② kernel 沿行整行切片；读免锁（append-only）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40080" y="4434840"/>
            <a:ext cx="10972800" cy="182880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68680" y="454456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prefill / chunked / decode：同一套循环，只有量的刻度不同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" y="4956048"/>
            <a:ext cx="3474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82F67"/>
                </a:solidFill>
                <a:latin typeface="PingFang SC"/>
                <a:ea typeface="PingFang SC"/>
              </a:rPr>
              <a:t>① prefill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68680" y="53035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一次分配 + 一次写 38 个 slot</a:t>
            </a:r>
          </a:p>
          <a:p>
            <a:pPr algn="l"/>
            <a:r>
              <a:rPr sz="1050" b="0">
                <a:solidFill>
                  <a:srgbClr val="7C91AA"/>
                </a:solidFill>
                <a:latin typeface="PingFang SC"/>
                <a:ea typeface="PingFang SC"/>
              </a:rPr>
              <a:t>整段 prompt 一口气算完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6280" y="4956048"/>
            <a:ext cx="3474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82F67"/>
                </a:solidFill>
                <a:latin typeface="PingFang SC"/>
                <a:ea typeface="PingFang SC"/>
              </a:rPr>
              <a:t>② chunked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526280" y="53035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每步 ≤ budget 个 token 分桶写</a:t>
            </a:r>
          </a:p>
          <a:p>
            <a:pPr algn="l"/>
            <a:r>
              <a:rPr sz="1050" b="0">
                <a:solidFill>
                  <a:srgbClr val="7C91AA"/>
                </a:solidFill>
                <a:latin typeface="PingFang SC"/>
                <a:ea typeface="PingFang SC"/>
              </a:rPr>
              <a:t>桶间先清零新分块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183879" y="4956048"/>
            <a:ext cx="3474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82F67"/>
                </a:solidFill>
                <a:latin typeface="PingFang SC"/>
                <a:ea typeface="PingFang SC"/>
              </a:rPr>
              <a:t>③ decode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183879" y="53035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每步 1 token、0~1 个新块</a:t>
            </a:r>
          </a:p>
          <a:p>
            <a:pPr algn="l"/>
            <a:r>
              <a:rPr sz="1050" b="0">
                <a:solidFill>
                  <a:srgbClr val="7C91AA"/>
                </a:solidFill>
                <a:latin typeface="PingFang SC"/>
                <a:ea typeface="PingFang SC"/>
              </a:rPr>
              <a:t>跨界步开新块（步 11）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68680" y="59436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55D4"/>
                </a:solidFill>
                <a:latin typeface="PingFang SC"/>
                <a:ea typeface="PingFang SC"/>
              </a:rPr>
              <a:t>三形态同律：分配块 ✓ + 写 slot ✓ + 读块 ✓　—— 差异只有“每次几个 token”。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7 · 端到端：一条请求的一生（R：prompt 70 / decode ×31）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70432"/>
            <a:ext cx="78638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70432"/>
            <a:ext cx="1234440" cy="621792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入队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32588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add_request → 预计算链式哈希 → WAITING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533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C91AA"/>
                </a:solidFill>
                <a:latin typeface="PingFang SC"/>
                <a:ea typeface="PingFang SC"/>
              </a:rPr>
              <a:t>(块表尚未建立)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01952"/>
            <a:ext cx="7863840" cy="621792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901952"/>
            <a:ext cx="1234440" cy="621792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准入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5740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三道门：结构门 → 空间门(整序列) → watermark(默认0.0)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848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C91AA"/>
                </a:solidFill>
                <a:latin typeface="PingFang SC"/>
                <a:ea typeface="PingFang SC"/>
              </a:rPr>
              <a:t>(块表尚未建立)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33472"/>
            <a:ext cx="78638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633472"/>
            <a:ext cx="1234440" cy="621792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7977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前缀查找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78892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get_computed_blocks：命中 P 留下的块 0/1（hit=32）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76148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76148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276148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76148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64992"/>
            <a:ext cx="7863840" cy="621792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364992"/>
            <a:ext cx="1234440" cy="621792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1129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分配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52044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allocate_slots：3 新块出池 → touch 0/1 → block_table=[0..4]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49300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349300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62288" y="349300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349300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37776" y="349300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37776" y="349300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13264" y="349300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13264" y="349300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88752" y="349300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88752" y="349300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096512"/>
            <a:ext cx="78638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4096512"/>
            <a:ext cx="1234440" cy="621792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4281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写入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425196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写 38 slot；满块 2/3 写回哈希；to_zero=[2,3,4]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422452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22452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0..4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828032"/>
            <a:ext cx="7863840" cy="621792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080" y="4828032"/>
            <a:ext cx="1234440" cy="621792"/>
          </a:xfrm>
          <a:prstGeom prst="roundRect">
            <a:avLst>
              <a:gd name="adj" fmla="val 10000"/>
            </a:avLst>
          </a:prstGeom>
          <a:solidFill>
            <a:srgbClr val="82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97433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decode ×31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498348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每步 allocate(num_new=1)+1 slot；跨界步开新块 5/6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495604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95604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0..6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559552"/>
            <a:ext cx="78638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0080" y="5559552"/>
            <a:ext cx="1234440" cy="621792"/>
          </a:xfrm>
          <a:prstGeom prst="roundRect">
            <a:avLst>
              <a:gd name="adj" fmla="val 10000"/>
            </a:avLst>
          </a:prstGeom>
          <a:solidFill>
            <a:srgbClr val="82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70585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收尾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571500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26F91"/>
                </a:solidFill>
                <a:latin typeface="PingFang SC"/>
                <a:ea typeface="PingFang SC"/>
              </a:rPr>
              <a:t>check_stop(EOS/满32) → free 逆序归还 → 带哈希进队尾可复用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5687568"/>
            <a:ext cx="402336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5687568"/>
            <a:ext cx="4023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  <a:ea typeface="PingFang SC"/>
              </a:rPr>
              <a:t>留 2/3/4/5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91440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C91AA"/>
                </a:solidFill>
                <a:latin typeface="PingFang SC"/>
                <a:ea typeface="PingFang SC"/>
              </a:rPr>
              <a:t>块表状态（右列逐亮）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55080"/>
            <a:ext cx="7863840" cy="402336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640080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82F67"/>
                </a:solidFill>
                <a:latin typeface="PingFang SC"/>
                <a:ea typeface="PingFang SC"/>
              </a:rPr>
              <a:t>全程一个账本视角：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块表逐步点亮；4 卡同一份 block_id，16 层同行列齐。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7 · 端到端：放不下怎么办 &amp; 为什么要前缀缓存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5661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66160" cy="91440"/>
          </a:xfrm>
          <a:prstGeom prst="roundRect">
            <a:avLst>
              <a:gd name="adj" fmla="val 1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98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return None → 留队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3736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WAITING 空间不足：本轮 break
下轮重试；被拒不产生半分配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8CECC"/>
                </a:solidFill>
                <a:latin typeface="PingFang SC"/>
                <a:ea typeface="PingFang SC"/>
              </a:rPr>
              <a:t>失败出口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143000"/>
            <a:ext cx="35661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143000"/>
            <a:ext cx="3566160" cy="91440"/>
          </a:xfrm>
          <a:prstGeom prst="roundRect">
            <a:avLst>
              <a:gd name="adj" fmla="val 10000"/>
            </a:avLst>
          </a:prstGeom>
          <a:solidFill>
            <a:srgbClr val="D7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298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抢占 → RECOMPUTE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73736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RUNNING 分不到块：弹最低优先级
块全回池、进度清零重新排队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8716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E6CC"/>
                </a:solidFill>
                <a:latin typeface="PingFang SC"/>
                <a:ea typeface="PingFang SC"/>
              </a:rPr>
              <a:t>以算换存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143000"/>
            <a:ext cx="35661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143000"/>
            <a:ext cx="3566160" cy="91440"/>
          </a:xfrm>
          <a:prstGeom prst="roundRect">
            <a:avLst>
              <a:gd name="adj" fmla="val 10000"/>
            </a:avLst>
          </a:prstGeom>
          <a:solidFill>
            <a:srgbClr val="5A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298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free → 三类命运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73736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无哈希→队首；带哈希→队尾 LRU；
共享块只减 ref_cnt（P 的 0/1）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8716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2B366"/>
                </a:solidFill>
                <a:latin typeface="PingFang SC"/>
                <a:ea typeface="PingFang SC"/>
              </a:rPr>
              <a:t>回收即复用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00400"/>
            <a:ext cx="10972800" cy="301752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28416"/>
            <a:ext cx="10515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2F67"/>
                </a:solidFill>
                <a:latin typeface="PingFang SC"/>
                <a:ea typeface="PingFang SC"/>
              </a:rPr>
              <a:t>前缀缓存复用闭环：P 到 R，第二次请求少算 32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7947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7" y="3913632"/>
            <a:ext cx="1828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P 的满块 2/3 写哈希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cache_full_blocks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80360" y="4297680"/>
            <a:ext cx="219455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099815" y="37947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9544" y="3913632"/>
            <a:ext cx="1828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P 结束 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ref_cnt→0,哈希留存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11496" y="4297680"/>
            <a:ext cx="219456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330952" y="37947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3913632"/>
            <a:ext cx="1828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R 到达查表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链式哈希命中块 0/1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42632" y="4297680"/>
            <a:ext cx="219456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562088" y="37947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5" y="3913632"/>
            <a:ext cx="1828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touch 转正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815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ref_cnt+1，零拷贝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73767" y="4297680"/>
            <a:ext cx="219457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793224" y="37947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2951" y="3913632"/>
            <a:ext cx="1828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82F67"/>
                </a:solidFill>
                <a:latin typeface="PingFang SC"/>
                <a:ea typeface="PingFang SC"/>
              </a:rPr>
              <a:t>R 少算 32 token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1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6F91"/>
                </a:solidFill>
                <a:latin typeface="PingFang SC"/>
                <a:ea typeface="PingFang SC"/>
              </a:rPr>
              <a:t>直接标记已计算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029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25E00"/>
                </a:solidFill>
                <a:latin typeface="PingFang SC"/>
                <a:ea typeface="PingFang SC"/>
              </a:rPr>
              <a:t>free 只减引用、不删哈希——</a:t>
            </a:r>
            <a:r>
              <a:rPr sz="1250" b="0">
                <a:solidFill>
                  <a:srgbClr val="526F91"/>
                </a:solidFill>
                <a:latin typeface="PingFang SC"/>
                <a:ea typeface="PingFang SC"/>
              </a:rPr>
              <a:t>这是第二次请求零成本复用的最后一环；块还在原位，只是账本易主。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82F67"/>
                </a:solidFill>
                <a:latin typeface="PingFang SC"/>
                <a:ea typeface="PingFang SC"/>
              </a:rPr>
              <a:t>更多场景只记差异（→E 章）：</a:t>
            </a:r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混合模型（多 group 双块表 + 页字节统一 + 状态块常驻）｜Connector（外部 computed tokens + 预留保护）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82F67"/>
                </a:solidFill>
                <a:latin typeface="PingFang SC"/>
                <a:ea typeface="PingFang SC"/>
              </a:rPr>
              <a:t>总结 · 一张卡片带走整套机制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32688"/>
            <a:ext cx="10972800" cy="228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07008"/>
            <a:ext cx="2084831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07008"/>
            <a:ext cx="2084831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四要素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9222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block_size / page_size_bytes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4086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/ num_blocks / block_table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1207008"/>
            <a:ext cx="2084831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1215" y="1207008"/>
            <a:ext cx="2084831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5" y="1371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两条铁律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5" y="179222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调度只认 block_id；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5" y="234086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block_id == 张量行号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207008"/>
            <a:ext cx="2084831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02352" y="1207008"/>
            <a:ext cx="2084831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371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五层架构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79222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Manager→Coordinator→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34086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SingleType→Pool→张量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1207008"/>
            <a:ext cx="2084831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33488" y="1207008"/>
            <a:ext cx="2084831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1371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两条时间线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179222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启动：规格→预算→物化→装配；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34086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运行：记账→广播→清零/读写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4624" y="1207008"/>
            <a:ext cx="2084831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64624" y="1207008"/>
            <a:ext cx="2084831" cy="82296"/>
          </a:xfrm>
          <a:prstGeom prst="roundRect">
            <a:avLst>
              <a:gd name="adj" fmla="val 10000"/>
            </a:avLst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1371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82F67"/>
                </a:solidFill>
                <a:latin typeface="PingFang SC"/>
                <a:ea typeface="PingFang SC"/>
              </a:rPr>
              <a:t>一个闭环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179222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满块写哈希→free 只减引用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1784" y="234086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6F91"/>
                </a:solidFill>
                <a:latin typeface="PingFang SC"/>
                <a:ea typeface="PingFang SC"/>
              </a:rPr>
              <a:t>→命中零拷贝复用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246120"/>
            <a:ext cx="109728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FC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364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2F67"/>
                </a:solidFill>
                <a:latin typeface="PingFang SC"/>
                <a:ea typeface="PingFang SC"/>
              </a:rPr>
              <a:t>想到代码去哪查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785615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kv_cache_interface.py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  Spec/公式继承树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85615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kv_cache_utils.py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  聚组·预算·哈希·队列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785615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block_pool.py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  池内分配/驱逐/写回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29767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kv_cache_manager.py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  门面：准入/allocate/free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29767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sched/scheduler.py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  调度节拍与打包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29767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55D4"/>
                </a:solidFill>
                <a:latin typeface="PingFang SC"/>
                <a:ea typeface="PingFang SC"/>
              </a:rPr>
              <a:t>gpu_model_runner.py</a:t>
            </a:r>
            <a:r>
              <a:rPr sz="1100" b="0">
                <a:solidFill>
                  <a:srgbClr val="526F91"/>
                </a:solidFill>
                <a:latin typeface="PingFang SC"/>
                <a:ea typeface="PingFang SC"/>
              </a:rPr>
              <a:t>  物化/块表提交/forward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0292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15721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2F67"/>
                </a:solidFill>
                <a:latin typeface="PingFang SC"/>
                <a:ea typeface="PingFang SC"/>
              </a:rPr>
              <a:t>往哪深挖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559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F91"/>
                </a:solidFill>
                <a:latin typeface="PingFang SC"/>
                <a:ea typeface="PingFang SC"/>
              </a:rPr>
              <a:t>ppt/ 同目录：draw/ 六张 31 页工程教学风示意图（每页编号归属）；docs_v2 六章 md 支持逐锚点检索；源码锚定 vllm/v1/。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C91AA"/>
                </a:solidFill>
                <a:latin typeface="PingFang SC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